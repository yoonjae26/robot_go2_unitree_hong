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(자기소개) 안녕하세요! 오늘은 제가 방학 동안 만든 프로젝트를 소개하려고 합니다. 바로 '말로 명령하면 움직이는 로봇 강아지'입니다. Unitree Go2라는 사족보행 로봇에, 음성인식과 AI를 연결해서 만든 프로젝트예요. 발표 시간은 15분 정도이고, 실제 로봇이 어떻게 제 말을 알아듣고 움직이는지 하나씩 보여드릴게요.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이야기할 순서는 이렇습니다. 먼저 Go2 로봇이 뭔지 간단히 소개하고, 제가 왜 이 프로젝트를 시작했는지 말씀드릴게요. 그다음 전체 시스템이 어떻게 동작하는지 구조를 보여드리고, 로봇이 할 수 있는 동작들, 실제 시연 예시, 그리고 개발하면서 겪었던 진짜 문제들과 어떻게 해결했는지까지 다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Go2는 Unitree라는 회사가 만든 강아지 로봇이에요. 다리가 4개, 관절이 12개나 있어서 사람처럼 균형을 잡으면서 걷습니다. 그냥 걷는 것만이 아니라 백플립이나 물구나무서기 같은 묘기도 부릴 수 있어요. 제가 이 로봇을 선택한 이유는 Unitree가 SDK, 그러니까 개발도구를 공개해놔서, 저처럼 학생도 파이썬 코드로 직접 로봇한테 명령을 내려볼 수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원래 이런 로봇을 움직이려면 리모컨을 쓰거나, move_forward() 같은 함수를 코드로 하나하나 실행해야 해요. 저는 이게 불편하다고 생각했습니다. 그래서 목표를 이렇게 잡았어요 — 사람이 그냥 평소 말하듯이 '일어나서 두 걸음 걸어가서 하트하고 다시 앉아줘' 라고 말하면, 로봇이 그 말을 이해하고 순서대로 행동하게 만드는 것. 즉, 음성 명령 → AI 이해 → 로봇 실행까지 전부 자동화하는 것이 이번 프로젝트의 목표였습니다.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이게 이 프로젝트의 전체 구조입니다. 사람이 마이크에 말을 하면, 먼저 STT라는 기술이 그 말을 텍스트로 바꿔줍니다. 그 텍스트를 OpenAI의 GPT, 그러니까 AI한테 보내서 '이 사람이 로봇한테 뭘 시키고 싶은 건지' 해석하게 합니다. 그러면 로봇이 그 명령대로 실제로 움직이고, 마지막으로 음성으로 결과를 다시 알려줍니다. 이 중에서 STT, LLM, 실행 세 단계를 조금 더 자세히 보여드릴게요.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STT, Speech-to-Text 단계입니다. 여기서는 Faster-Whisper라는 오픈소스 AI 모델을 써서 마이크로 들어온 소리를 실시간으로 텍스트로 바꿉니다. 사람이 말을 시작하고 끝내는 시점도 자동으로 감지해서, 버튼을 누르지 않아도 자연스럽게 대화하듯 말할 수 있어요. 한국어도 지원해서, 예를 들어 제가 '일어나서 두 걸음 앞으로 걸어간 다음 하트를 하고 엎드렸다가 다시 일어나' 라고 말하면 이 문장 그대로 텍스트로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단계가 이 프로젝트의 핵심 두뇌라고 할 수 있는 LLM, 거대언어모델 단계입니다. 저는 OpenAI GPT한테 미리 '로봇이 할 수 있는 행동 목록'을 알려줍니다. 그러면 GPT가 사람이 말한 자연어 문장을 분석해서, 로봇이 실행할 수 있는 명령어 형태, 그러니까 JSON이라는 데이터 형식으로 바꿔줍니다. 화면에 보이는 것처럼, '일어나서 두 걸음 걸어가서 하트하고 앉았다가 다시 일어나'라는 한 문장이 여섯 개의 순서 있는 명령으로 정확하게 쪼개진 걸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명령이 로봇한테 전달되는 마지막 단계입니다. LLM이 만든 명령을 RobotController가 받아서, BehaviorExecutor한테 넘깁니다. 이 BehaviorExecutor가 '지금 배터리는 충분한지, 지금 서 있는 상태인지' 같은 안전 체크를 한 다음 실제로 Unitree에서 제공하는 SportClient라는 SDK를 통해 로봇 하드웨어에 신호를 보냅니다. 그러면 그 신호가 로봇의 12개 모터로 전달돼서 실제로 다리가 움직이게 되는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만든 라이브러리에는 총 20가지 행동이 등록되어 있습니다. 크게 나누면 일어서고 앉는 '자세' 동작, 전후좌우로 움직이는 '이동' 동작, 백플립이나 핸드스탠드 같은 '묘기' 동작, 하트 포즈나 춤 같은 '감성 표현' 동작, 그리고 위험할 때 바로 멈추는 '안전' 동작이 있습니다. 이 모든 동작을 사람이 말 한마디로 선택할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제가 이 문장을 말했을 때 로봇이 어떻게 움직였는지 순서대로 보여드릴게요. 일어서고, 앞으로 두 걸음 걷고, 하트 포즈를 하고, 엎드렸다가, 다시 일어나는 다섯 단계가 순서대로 실행됩니다. 그리고 다 끝나면 로봇이 음성으로 '일어났어요! 두 걸음 걸어갔고, 하트를 하고 엎드렸다가 다시 일어났어요' 라고 대답까지 해줍니다. (여기서 실제 데모 영상이나 실습을 보여주면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처음 부딪힌 문제는 이거였어요. 명령을 여러 개 이어 붙일수록 로봇이 너무 오래 걸리는 거예요. 알고 보니, 동작 하나가 끝날 때마다 안전을 위해 잠깐씩 기다리는 시간이 있는데, 이게 명령 개수만큼 계속 쌓이는 구조였습니다. 게다가 코드를 자세히 뜯어보니까, '일어서기' 동작이 끝나고 나서 똑같은 일어서기 동작을 한 번 더 실행하는 말도 안 되는 중복 버그도 발견했어요. 그래서 그 중복을 없애고, 같은 방향으로 계속 걷는 이동 명령들은 하나로 합쳐서 실행하도록 바꿨습니다. 안전을 위한 대기시간은 그대로 지키면서, 낭비되는 시간만 줄인 거죠.</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이걸 고치고 나니 더 이상한 문제가 생겼어요. 이동 명령을 하나로 합쳤더니, 로봇이 그 시간 동안 그냥 가만히 서있기만 하는 거예요. 원인을 찾아보니까, 로봇한테 보내는 '이 속도로 움직여라'라는 명령에는 유통기한이 있었습니다. 대략 1초 안에 똑같은 명령을 다시 보내주지 않으면, 로봇이 자동으로 속도를 0으로 되돌려버려요. 이건 자전거 페달이랑 비슷해요. 페달을 한 번 밟고 놔버리면 자전거가 곧 멈추잖아요. 로봇도 계속 '가라, 가라' 하고 신호를 보내줘야 계속 가는 거였습니다. 그래서 이동하는 동안 0.3초마다 같은 명령을 계속 다시 보내주도록 코드를 고쳤고, 그제서야 로봇이 끊기지 않고 제대로 걸어갔습니다.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아무리 재미있는 동작을 많이 만들어도, 로봇 프로젝트에서 가장 중요한 건 안전이라고 생각합니다. 그래서 몇 가지 안전장치를 꼭 넣었어요. 배터리가 부족하면 위험한 동작은 실행하지 않고, 로봇이 서있지 않은 상태에서 걷기 명령이 오면 먼저 자동으로 일어서게 만들었습니다. 그리고 언제든 '정지'라고 말하면 바로 멈출 수 있고요. 아까 말씀드린 속도 최적화를 할 때도, 자세를 바꾸는 것처럼 안전과 직결된 대기시간은 절대 줄이지 않고, 진짜 불필요하게 낭비되는 부분만 골라서 줄였습니다.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프로젝트를 하면서 느낀 점을 정리해봤습니다. 로봇공학이 단순히 모터나 기계 설계만의 영역이 아니라, 음성인식이나 AI, 안전설계 같은 소프트웨어 기술이 정말 많이 만나는 분야라는 걸 느꼈어요. 그리고 코드 한 줄의 작은 버그가 실제 로봇의 움직임을 완전히 바꿔놓을 수 있다는 것도 직접 경험했습니다. 특히 최신 AI인 LLM을 로봇의 두뇌처럼 활용해본 게 정말 좋은 경험이었고, 문제가 생겼을 때 로그를 하나하나 읽으면서 원인을 찾아가는 과정 자체가 저에게는 큰 공부가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앞으로의 계획을 말씀드리면, 지금은 카메라를 활용해서 스스로 장애물을 피하는 기능을 추가하고 싶고요, 지금처럼 정해진 시간만큼 무조건 기다리는 방식 대신 로봇의 실제 센서 값을 보고 '아, 지금 동작이 끝났구나' 하고 판단하는 더 똑똑한 방식으로 발전시키고 싶습니다. 여기까지 들어주셔서 정말 감사합니다. 질문 있으시면 편하게 해주세요!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C33"/>
        </a:solidFill>
        <a:effectLst/>
      </p:bgPr>
    </p:bg>
    <p:spTree>
      <p:nvGrpSpPr>
        <p:cNvPr id="1" name=""/>
        <p:cNvGrpSpPr/>
        <p:nvPr/>
      </p:nvGrpSpPr>
      <p:grpSpPr/>
      <p:sp>
        <p:nvSpPr>
          <p:cNvPr id="2" name="Rectangle 1"/>
          <p:cNvSpPr/>
          <p:nvPr/>
        </p:nvSpPr>
        <p:spPr>
          <a:xfrm>
            <a:off x="0" y="6035040"/>
            <a:ext cx="12191695" cy="8229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548640"/>
          </a:xfrm>
          <a:prstGeom prst="rect">
            <a:avLst/>
          </a:prstGeom>
          <a:noFill/>
        </p:spPr>
        <p:txBody>
          <a:bodyPr wrap="square" anchor="t">
            <a:spAutoFit/>
          </a:bodyPr>
          <a:lstStyle/>
          <a:p>
            <a:pPr algn="l">
              <a:lnSpc>
                <a:spcPct val="100000"/>
              </a:lnSpc>
            </a:pPr>
            <a:r>
              <a:rPr sz="1800" b="1" i="0">
                <a:solidFill>
                  <a:srgbClr val="F59E0B"/>
                </a:solidFill>
                <a:latin typeface="Malgun Gothic"/>
              </a:rPr>
              <a:t>GO2 PROJECT · UNITREE</a:t>
            </a:r>
          </a:p>
        </p:txBody>
      </p:sp>
      <p:sp>
        <p:nvSpPr>
          <p:cNvPr id="4" name="TextBox 3"/>
          <p:cNvSpPr txBox="1"/>
          <p:nvPr/>
        </p:nvSpPr>
        <p:spPr>
          <a:xfrm>
            <a:off x="822960" y="2514600"/>
            <a:ext cx="10515600" cy="1645920"/>
          </a:xfrm>
          <a:prstGeom prst="rect">
            <a:avLst/>
          </a:prstGeom>
          <a:noFill/>
        </p:spPr>
        <p:txBody>
          <a:bodyPr wrap="square" anchor="t">
            <a:spAutoFit/>
          </a:bodyPr>
          <a:lstStyle/>
          <a:p>
            <a:pPr algn="l">
              <a:lnSpc>
                <a:spcPct val="100000"/>
              </a:lnSpc>
            </a:pPr>
            <a:r>
              <a:rPr sz="4400" b="1" i="0">
                <a:solidFill>
                  <a:srgbClr val="FFFFFF"/>
                </a:solidFill>
                <a:latin typeface="Malgun Gothic"/>
              </a:rPr>
              <a:t>말하는 대로 움직이는 로봇 강아지</a:t>
            </a:r>
          </a:p>
        </p:txBody>
      </p:sp>
      <p:sp>
        <p:nvSpPr>
          <p:cNvPr id="5" name="TextBox 4"/>
          <p:cNvSpPr txBox="1"/>
          <p:nvPr/>
        </p:nvSpPr>
        <p:spPr>
          <a:xfrm>
            <a:off x="822960" y="3566160"/>
            <a:ext cx="10515600" cy="731520"/>
          </a:xfrm>
          <a:prstGeom prst="rect">
            <a:avLst/>
          </a:prstGeom>
          <a:noFill/>
        </p:spPr>
        <p:txBody>
          <a:bodyPr wrap="square" anchor="t">
            <a:spAutoFit/>
          </a:bodyPr>
          <a:lstStyle/>
          <a:p>
            <a:pPr algn="l">
              <a:lnSpc>
                <a:spcPct val="100000"/>
              </a:lnSpc>
            </a:pPr>
            <a:r>
              <a:rPr sz="2400" b="0" i="0">
                <a:solidFill>
                  <a:srgbClr val="DBEAFE"/>
                </a:solidFill>
                <a:latin typeface="Malgun Gothic"/>
              </a:rPr>
              <a:t>Unitree Go2 음성 제어 프로젝트 소개</a:t>
            </a:r>
          </a:p>
        </p:txBody>
      </p:sp>
      <p:sp>
        <p:nvSpPr>
          <p:cNvPr id="6" name="TextBox 5"/>
          <p:cNvSpPr txBox="1"/>
          <p:nvPr/>
        </p:nvSpPr>
        <p:spPr>
          <a:xfrm>
            <a:off x="822960" y="6172200"/>
            <a:ext cx="7315200" cy="457200"/>
          </a:xfrm>
          <a:prstGeom prst="rect">
            <a:avLst/>
          </a:prstGeom>
          <a:noFill/>
        </p:spPr>
        <p:txBody>
          <a:bodyPr wrap="square" anchor="t">
            <a:spAutoFit/>
          </a:bodyPr>
          <a:lstStyle/>
          <a:p>
            <a:pPr algn="l">
              <a:lnSpc>
                <a:spcPct val="100000"/>
              </a:lnSpc>
            </a:pPr>
            <a:r>
              <a:rPr sz="1400" b="0" i="0">
                <a:solidFill>
                  <a:srgbClr val="FFFFFF"/>
                </a:solidFill>
                <a:latin typeface="Malgun Gothic"/>
              </a:rPr>
              <a:t>발표자: ___________        발표 시간: 약 15분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INTRO</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오늘 발표 순서</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2</a:t>
            </a:r>
          </a:p>
        </p:txBody>
      </p:sp>
      <p:sp>
        <p:nvSpPr>
          <p:cNvPr id="7" name="TextBox 6"/>
          <p:cNvSpPr txBox="1"/>
          <p:nvPr/>
        </p:nvSpPr>
        <p:spPr>
          <a:xfrm>
            <a:off x="822960" y="1920240"/>
            <a:ext cx="9601200" cy="4389120"/>
          </a:xfrm>
          <a:prstGeom prst="rect">
            <a:avLst/>
          </a:prstGeom>
          <a:noFill/>
        </p:spPr>
        <p:txBody>
          <a:bodyPr wrap="square">
            <a:spAutoFit/>
          </a:bodyPr>
          <a:lstStyle/>
          <a:p>
            <a:pPr>
              <a:lnSpc>
                <a:spcPct val="115000"/>
              </a:lnSpc>
              <a:spcAft>
                <a:spcPts val="1600"/>
              </a:spcAft>
            </a:pPr>
            <a:r>
              <a:rPr sz="2200">
                <a:solidFill>
                  <a:srgbClr val="1F2937"/>
                </a:solidFill>
                <a:latin typeface="Malgun Gothic"/>
              </a:rPr>
              <a:t>•  1.  Go2 로봇이란?</a:t>
            </a:r>
          </a:p>
          <a:p>
            <a:pPr>
              <a:lnSpc>
                <a:spcPct val="115000"/>
              </a:lnSpc>
              <a:spcAft>
                <a:spcPts val="1600"/>
              </a:spcAft>
            </a:pPr>
            <a:r>
              <a:rPr sz="2200">
                <a:solidFill>
                  <a:srgbClr val="1F2937"/>
                </a:solidFill>
                <a:latin typeface="Malgun Gothic"/>
              </a:rPr>
              <a:t>•  2.  프로젝트 목표 — 왜 '음성 제어'를 만들었나</a:t>
            </a:r>
          </a:p>
          <a:p>
            <a:pPr>
              <a:lnSpc>
                <a:spcPct val="115000"/>
              </a:lnSpc>
              <a:spcAft>
                <a:spcPts val="1600"/>
              </a:spcAft>
            </a:pPr>
            <a:r>
              <a:rPr sz="2200">
                <a:solidFill>
                  <a:srgbClr val="1F2937"/>
                </a:solidFill>
                <a:latin typeface="Malgun Gothic"/>
              </a:rPr>
              <a:t>•  3.  전체 시스템 구조 (파이프라인)</a:t>
            </a:r>
          </a:p>
          <a:p>
            <a:pPr>
              <a:lnSpc>
                <a:spcPct val="115000"/>
              </a:lnSpc>
              <a:spcAft>
                <a:spcPts val="1600"/>
              </a:spcAft>
            </a:pPr>
            <a:r>
              <a:rPr sz="2200">
                <a:solidFill>
                  <a:srgbClr val="1F2937"/>
                </a:solidFill>
                <a:latin typeface="Malgun Gothic"/>
              </a:rPr>
              <a:t>•  4.  로봇이 할 수 있는 20가지 행동</a:t>
            </a:r>
          </a:p>
          <a:p>
            <a:pPr>
              <a:lnSpc>
                <a:spcPct val="115000"/>
              </a:lnSpc>
              <a:spcAft>
                <a:spcPts val="1600"/>
              </a:spcAft>
            </a:pPr>
            <a:r>
              <a:rPr sz="2200">
                <a:solidFill>
                  <a:srgbClr val="1F2937"/>
                </a:solidFill>
                <a:latin typeface="Malgun Gothic"/>
              </a:rPr>
              <a:t>•  5.  실제 동작 시연 시나리오</a:t>
            </a:r>
          </a:p>
          <a:p>
            <a:pPr>
              <a:lnSpc>
                <a:spcPct val="115000"/>
              </a:lnSpc>
              <a:spcAft>
                <a:spcPts val="1600"/>
              </a:spcAft>
            </a:pPr>
            <a:r>
              <a:rPr sz="2200">
                <a:solidFill>
                  <a:srgbClr val="1F2937"/>
                </a:solidFill>
                <a:latin typeface="Malgun Gothic"/>
              </a:rPr>
              <a:t>•  6.  개발하며 만난 문제와 해결 과정</a:t>
            </a:r>
          </a:p>
          <a:p>
            <a:pPr>
              <a:lnSpc>
                <a:spcPct val="115000"/>
              </a:lnSpc>
              <a:spcAft>
                <a:spcPts val="1600"/>
              </a:spcAft>
            </a:pPr>
            <a:r>
              <a:rPr sz="2200">
                <a:solidFill>
                  <a:srgbClr val="1F2937"/>
                </a:solidFill>
                <a:latin typeface="Malgun Gothic"/>
              </a:rPr>
              <a:t>•  7.  안전 설계</a:t>
            </a:r>
          </a:p>
          <a:p>
            <a:pPr>
              <a:lnSpc>
                <a:spcPct val="115000"/>
              </a:lnSpc>
              <a:spcAft>
                <a:spcPts val="1600"/>
              </a:spcAft>
            </a:pPr>
            <a:r>
              <a:rPr sz="2200">
                <a:solidFill>
                  <a:srgbClr val="1F2937"/>
                </a:solidFill>
                <a:latin typeface="Malgun Gothic"/>
              </a:rPr>
              <a:t>•  8.  느낀 점과 앞으로의 계획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01</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Go2 로봇이란?</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3</a:t>
            </a:r>
          </a:p>
        </p:txBody>
      </p:sp>
      <p:sp>
        <p:nvSpPr>
          <p:cNvPr id="7" name="TextBox 6"/>
          <p:cNvSpPr txBox="1"/>
          <p:nvPr/>
        </p:nvSpPr>
        <p:spPr>
          <a:xfrm>
            <a:off x="640080" y="1920240"/>
            <a:ext cx="6035040" cy="4206240"/>
          </a:xfrm>
          <a:prstGeom prst="rect">
            <a:avLst/>
          </a:prstGeom>
          <a:noFill/>
        </p:spPr>
        <p:txBody>
          <a:bodyPr wrap="square">
            <a:spAutoFit/>
          </a:bodyPr>
          <a:lstStyle/>
          <a:p>
            <a:pPr>
              <a:lnSpc>
                <a:spcPct val="115000"/>
              </a:lnSpc>
              <a:spcAft>
                <a:spcPts val="1600"/>
              </a:spcAft>
            </a:pPr>
            <a:r>
              <a:rPr sz="1900">
                <a:solidFill>
                  <a:srgbClr val="1F2937"/>
                </a:solidFill>
                <a:latin typeface="Malgun Gothic"/>
              </a:rPr>
              <a:t>•  중국 로봇 기업 Unitree가 만든 사족보행(4족) 로봇</a:t>
            </a:r>
          </a:p>
          <a:p>
            <a:pPr>
              <a:lnSpc>
                <a:spcPct val="115000"/>
              </a:lnSpc>
              <a:spcAft>
                <a:spcPts val="1600"/>
              </a:spcAft>
            </a:pPr>
            <a:r>
              <a:rPr sz="1900">
                <a:solidFill>
                  <a:srgbClr val="1F2937"/>
                </a:solidFill>
                <a:latin typeface="Malgun Gothic"/>
              </a:rPr>
              <a:t>•  다리마다 3개씩, 총 12개의 관절 모터로 움직임</a:t>
            </a:r>
          </a:p>
          <a:p>
            <a:pPr>
              <a:lnSpc>
                <a:spcPct val="115000"/>
              </a:lnSpc>
              <a:spcAft>
                <a:spcPts val="1600"/>
              </a:spcAft>
            </a:pPr>
            <a:r>
              <a:rPr sz="1900">
                <a:solidFill>
                  <a:srgbClr val="1F2937"/>
                </a:solidFill>
                <a:latin typeface="Malgun Gothic"/>
              </a:rPr>
              <a:t>•  카메라·라이다·IMU 센서로 주변 환경과 자세를 인식</a:t>
            </a:r>
          </a:p>
          <a:p>
            <a:pPr>
              <a:lnSpc>
                <a:spcPct val="115000"/>
              </a:lnSpc>
              <a:spcAft>
                <a:spcPts val="1600"/>
              </a:spcAft>
            </a:pPr>
            <a:r>
              <a:rPr sz="1900">
                <a:solidFill>
                  <a:srgbClr val="1F2937"/>
                </a:solidFill>
                <a:latin typeface="Malgun Gothic"/>
              </a:rPr>
              <a:t>•  걷기·달리기뿐 아니라 백플립, 핸드스탠드 같은 고난도 동작도 가능</a:t>
            </a:r>
          </a:p>
          <a:p>
            <a:pPr>
              <a:lnSpc>
                <a:spcPct val="115000"/>
              </a:lnSpc>
              <a:spcAft>
                <a:spcPts val="1600"/>
              </a:spcAft>
            </a:pPr>
            <a:r>
              <a:rPr sz="1900">
                <a:solidFill>
                  <a:srgbClr val="1F2937"/>
                </a:solidFill>
                <a:latin typeface="Malgun Gothic"/>
              </a:rPr>
              <a:t>•  연구, 교육, 순찰, 재난 현장 탐색 등 다양한 분야에서 활용</a:t>
            </a:r>
          </a:p>
        </p:txBody>
      </p:sp>
      <p:sp>
        <p:nvSpPr>
          <p:cNvPr id="8" name="Rectangle 7"/>
          <p:cNvSpPr/>
          <p:nvPr/>
        </p:nvSpPr>
        <p:spPr>
          <a:xfrm>
            <a:off x="7040880" y="1920240"/>
            <a:ext cx="4480560" cy="4206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2103120"/>
            <a:ext cx="4114800" cy="457200"/>
          </a:xfrm>
          <a:prstGeom prst="rect">
            <a:avLst/>
          </a:prstGeom>
          <a:noFill/>
        </p:spPr>
        <p:txBody>
          <a:bodyPr wrap="square" anchor="t">
            <a:spAutoFit/>
          </a:bodyPr>
          <a:lstStyle/>
          <a:p>
            <a:pPr algn="ctr">
              <a:lnSpc>
                <a:spcPct val="100000"/>
              </a:lnSpc>
            </a:pPr>
            <a:r>
              <a:rPr sz="1600" b="1" i="0">
                <a:solidFill>
                  <a:srgbClr val="2563EB"/>
                </a:solidFill>
                <a:latin typeface="Malgun Gothic"/>
              </a:rPr>
              <a:t>왜 하필 Go2였을까?</a:t>
            </a:r>
          </a:p>
        </p:txBody>
      </p:sp>
      <p:sp>
        <p:nvSpPr>
          <p:cNvPr id="10" name="TextBox 9"/>
          <p:cNvSpPr txBox="1"/>
          <p:nvPr/>
        </p:nvSpPr>
        <p:spPr>
          <a:xfrm>
            <a:off x="7315200" y="2651760"/>
            <a:ext cx="3931920" cy="3291840"/>
          </a:xfrm>
          <a:prstGeom prst="rect">
            <a:avLst/>
          </a:prstGeom>
          <a:noFill/>
        </p:spPr>
        <p:txBody>
          <a:bodyPr wrap="square" anchor="t">
            <a:spAutoFit/>
          </a:bodyPr>
          <a:lstStyle/>
          <a:p>
            <a:pPr algn="ctr">
              <a:lnSpc>
                <a:spcPct val="130000"/>
              </a:lnSpc>
            </a:pPr>
            <a:r>
              <a:rPr sz="1600" b="0" i="0">
                <a:solidFill>
                  <a:srgbClr val="1F2937"/>
                </a:solidFill>
                <a:latin typeface="Malgun Gothic"/>
              </a:rPr>
              <a:t>제어용 SDK(개발도구)가 공개되어 있어서</a:t>
            </a:r>
          </a:p>
          <a:p>
            <a:pPr algn="ctr">
              <a:lnSpc>
                <a:spcPct val="130000"/>
              </a:lnSpc>
            </a:pPr>
            <a:r>
              <a:rPr sz="1600" b="0" i="0">
                <a:solidFill>
                  <a:srgbClr val="1F2937"/>
                </a:solidFill>
                <a:latin typeface="Malgun Gothic"/>
              </a:rPr>
              <a:t>파이썬 코드로 직접 로봇에 명령을 보낼 수 있습니다.</a:t>
            </a:r>
          </a:p>
          <a:p>
            <a:pPr algn="ctr">
              <a:lnSpc>
                <a:spcPct val="130000"/>
              </a:lnSpc>
            </a:pPr>
          </a:p>
          <a:p>
            <a:pPr algn="ctr">
              <a:lnSpc>
                <a:spcPct val="130000"/>
              </a:lnSpc>
            </a:pPr>
            <a:r>
              <a:rPr sz="1600" b="0" i="0">
                <a:solidFill>
                  <a:srgbClr val="1F2937"/>
                </a:solidFill>
                <a:latin typeface="Malgun Gothic"/>
              </a:rPr>
              <a:t>→ 그래서 '내가 만든 프로그램'으로</a:t>
            </a:r>
          </a:p>
          <a:p>
            <a:pPr algn="ctr">
              <a:lnSpc>
                <a:spcPct val="130000"/>
              </a:lnSpc>
            </a:pPr>
            <a:r>
              <a:rPr sz="1600" b="0" i="0">
                <a:solidFill>
                  <a:srgbClr val="1F2937"/>
                </a:solidFill>
                <a:latin typeface="Malgun Gothic"/>
              </a:rPr>
              <a:t>     실제 로봇을 움직여볼 수 있었습니다.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02</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프로젝트 목표</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4</a:t>
            </a:r>
          </a:p>
        </p:txBody>
      </p:sp>
      <p:sp>
        <p:nvSpPr>
          <p:cNvPr id="7" name="TextBox 6"/>
          <p:cNvSpPr txBox="1"/>
          <p:nvPr/>
        </p:nvSpPr>
        <p:spPr>
          <a:xfrm>
            <a:off x="640080" y="1828800"/>
            <a:ext cx="10607040" cy="548640"/>
          </a:xfrm>
          <a:prstGeom prst="rect">
            <a:avLst/>
          </a:prstGeom>
          <a:noFill/>
        </p:spPr>
        <p:txBody>
          <a:bodyPr wrap="square" anchor="t">
            <a:spAutoFit/>
          </a:bodyPr>
          <a:lstStyle/>
          <a:p>
            <a:pPr algn="l">
              <a:lnSpc>
                <a:spcPct val="100000"/>
              </a:lnSpc>
            </a:pPr>
            <a:r>
              <a:rPr sz="1900" b="0" i="0">
                <a:solidFill>
                  <a:srgbClr val="6B7280"/>
                </a:solidFill>
                <a:latin typeface="Malgun Gothic"/>
              </a:rPr>
              <a:t>기존 방식: 리모컨 버튼 또는 코드 한 줄 한 줄로 로봇을 조종</a:t>
            </a:r>
          </a:p>
        </p:txBody>
      </p:sp>
      <p:sp>
        <p:nvSpPr>
          <p:cNvPr id="8" name="Rectangle 7"/>
          <p:cNvSpPr/>
          <p:nvPr/>
        </p:nvSpPr>
        <p:spPr>
          <a:xfrm>
            <a:off x="640080" y="2514600"/>
            <a:ext cx="10607040" cy="100584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51760"/>
            <a:ext cx="10058400" cy="731520"/>
          </a:xfrm>
          <a:prstGeom prst="rect">
            <a:avLst/>
          </a:prstGeom>
          <a:noFill/>
        </p:spPr>
        <p:txBody>
          <a:bodyPr wrap="square" anchor="t">
            <a:spAutoFit/>
          </a:bodyPr>
          <a:lstStyle/>
          <a:p>
            <a:pPr algn="l">
              <a:lnSpc>
                <a:spcPct val="100000"/>
              </a:lnSpc>
            </a:pPr>
            <a:r>
              <a:rPr sz="1800" b="0" i="1">
                <a:solidFill>
                  <a:srgbClr val="DC2626"/>
                </a:solidFill>
                <a:latin typeface="Malgun Gothic"/>
              </a:rPr>
              <a:t>"앞으로 가고 싶으면 move_forward() 함수를 실행해야 해..."</a:t>
            </a:r>
          </a:p>
        </p:txBody>
      </p:sp>
      <p:sp>
        <p:nvSpPr>
          <p:cNvPr id="10" name="TextBox 9"/>
          <p:cNvSpPr txBox="1"/>
          <p:nvPr/>
        </p:nvSpPr>
        <p:spPr>
          <a:xfrm>
            <a:off x="640080" y="3794760"/>
            <a:ext cx="10607040" cy="548640"/>
          </a:xfrm>
          <a:prstGeom prst="rect">
            <a:avLst/>
          </a:prstGeom>
          <a:noFill/>
        </p:spPr>
        <p:txBody>
          <a:bodyPr wrap="square" anchor="t">
            <a:spAutoFit/>
          </a:bodyPr>
          <a:lstStyle/>
          <a:p>
            <a:pPr algn="l">
              <a:lnSpc>
                <a:spcPct val="100000"/>
              </a:lnSpc>
            </a:pPr>
            <a:r>
              <a:rPr sz="1900" b="0" i="0">
                <a:solidFill>
                  <a:srgbClr val="6B7280"/>
                </a:solidFill>
                <a:latin typeface="Malgun Gothic"/>
              </a:rPr>
              <a:t>제가 만들고 싶었던 것</a:t>
            </a:r>
          </a:p>
        </p:txBody>
      </p:sp>
      <p:sp>
        <p:nvSpPr>
          <p:cNvPr id="11" name="Rectangle 10"/>
          <p:cNvSpPr/>
          <p:nvPr/>
        </p:nvSpPr>
        <p:spPr>
          <a:xfrm>
            <a:off x="640080" y="4480560"/>
            <a:ext cx="10607040" cy="137160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617720"/>
            <a:ext cx="10058400" cy="1097280"/>
          </a:xfrm>
          <a:prstGeom prst="rect">
            <a:avLst/>
          </a:prstGeom>
          <a:noFill/>
        </p:spPr>
        <p:txBody>
          <a:bodyPr wrap="square" anchor="t">
            <a:spAutoFit/>
          </a:bodyPr>
          <a:lstStyle/>
          <a:p>
            <a:pPr algn="l">
              <a:lnSpc>
                <a:spcPct val="130000"/>
              </a:lnSpc>
            </a:pPr>
            <a:r>
              <a:rPr sz="1900" b="1" i="0">
                <a:solidFill>
                  <a:srgbClr val="111C33"/>
                </a:solidFill>
                <a:latin typeface="Malgun Gothic"/>
              </a:rPr>
              <a:t>"일어나서 두 걸음 걸어가서 하트하고 다시 앉아줘"</a:t>
            </a:r>
          </a:p>
          <a:p>
            <a:pPr algn="l">
              <a:lnSpc>
                <a:spcPct val="130000"/>
              </a:lnSpc>
            </a:pPr>
            <a:r>
              <a:rPr sz="1900" b="1" i="0">
                <a:solidFill>
                  <a:srgbClr val="111C33"/>
                </a:solidFill>
                <a:latin typeface="Malgun Gothic"/>
              </a:rPr>
              <a:t>     → 사람이 말하는 자연어 그대로 로봇이 알아듣고 행동!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03</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전체 시스템 구조 (파이프라인)</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5</a:t>
            </a:r>
          </a:p>
        </p:txBody>
      </p:sp>
      <p:sp>
        <p:nvSpPr>
          <p:cNvPr id="7" name="Rounded Rectangle 6"/>
          <p:cNvSpPr/>
          <p:nvPr/>
        </p:nvSpPr>
        <p:spPr>
          <a:xfrm>
            <a:off x="508863" y="2468880"/>
            <a:ext cx="1737360" cy="155448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900" b="1">
                <a:solidFill>
                  <a:srgbClr val="FFFFFF"/>
                </a:solidFill>
                <a:latin typeface="Malgun Gothic"/>
              </a:rPr>
              <a:t>음성 입력</a:t>
            </a:r>
          </a:p>
          <a:p>
            <a:pPr algn="ctr"/>
            <a:r>
              <a:rPr sz="1300">
                <a:solidFill>
                  <a:srgbClr val="FFFFFF"/>
                </a:solidFill>
                <a:latin typeface="Malgun Gothic"/>
              </a:rPr>
              <a:t>마이크로</a:t>
            </a:r>
            <a:br/>
            <a:r>
              <a:rPr sz="1300">
                <a:solidFill>
                  <a:srgbClr val="FFFFFF"/>
                </a:solidFill>
                <a:latin typeface="Malgun Gothic"/>
              </a:rPr>
              <a:t>말하기</a:t>
            </a:r>
          </a:p>
        </p:txBody>
      </p:sp>
      <p:sp>
        <p:nvSpPr>
          <p:cNvPr id="8" name="Right Arrow 7"/>
          <p:cNvSpPr/>
          <p:nvPr/>
        </p:nvSpPr>
        <p:spPr>
          <a:xfrm>
            <a:off x="2246223" y="3063240"/>
            <a:ext cx="36576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68015" y="2468880"/>
            <a:ext cx="1737360" cy="155448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900" b="1">
                <a:solidFill>
                  <a:srgbClr val="FFFFFF"/>
                </a:solidFill>
                <a:latin typeface="Malgun Gothic"/>
              </a:rPr>
              <a:t>STT</a:t>
            </a:r>
          </a:p>
          <a:p>
            <a:pPr algn="ctr"/>
            <a:r>
              <a:rPr sz="1300">
                <a:solidFill>
                  <a:srgbClr val="FFFFFF"/>
                </a:solidFill>
                <a:latin typeface="Malgun Gothic"/>
              </a:rPr>
              <a:t>Whisper로</a:t>
            </a:r>
            <a:br/>
            <a:r>
              <a:rPr sz="1300">
                <a:solidFill>
                  <a:srgbClr val="FFFFFF"/>
                </a:solidFill>
                <a:latin typeface="Malgun Gothic"/>
              </a:rPr>
              <a:t>텍스트 변환</a:t>
            </a:r>
          </a:p>
        </p:txBody>
      </p:sp>
      <p:sp>
        <p:nvSpPr>
          <p:cNvPr id="10" name="Right Arrow 9"/>
          <p:cNvSpPr/>
          <p:nvPr/>
        </p:nvSpPr>
        <p:spPr>
          <a:xfrm>
            <a:off x="4605375" y="3063240"/>
            <a:ext cx="36576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227167" y="2468880"/>
            <a:ext cx="1737360" cy="155448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900" b="1">
                <a:solidFill>
                  <a:srgbClr val="FFFFFF"/>
                </a:solidFill>
                <a:latin typeface="Malgun Gothic"/>
              </a:rPr>
              <a:t>LLM</a:t>
            </a:r>
          </a:p>
          <a:p>
            <a:pPr algn="ctr"/>
            <a:r>
              <a:rPr sz="1300">
                <a:solidFill>
                  <a:srgbClr val="FFFFFF"/>
                </a:solidFill>
                <a:latin typeface="Malgun Gothic"/>
              </a:rPr>
              <a:t>OpenAI GPT가</a:t>
            </a:r>
            <a:br/>
            <a:r>
              <a:rPr sz="1300">
                <a:solidFill>
                  <a:srgbClr val="FFFFFF"/>
                </a:solidFill>
                <a:latin typeface="Malgun Gothic"/>
              </a:rPr>
              <a:t>명령을 이해</a:t>
            </a:r>
          </a:p>
        </p:txBody>
      </p:sp>
      <p:sp>
        <p:nvSpPr>
          <p:cNvPr id="12" name="Right Arrow 11"/>
          <p:cNvSpPr/>
          <p:nvPr/>
        </p:nvSpPr>
        <p:spPr>
          <a:xfrm>
            <a:off x="6964527" y="3063240"/>
            <a:ext cx="36576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586319" y="2468880"/>
            <a:ext cx="1737360" cy="155448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900" b="1">
                <a:solidFill>
                  <a:srgbClr val="FFFFFF"/>
                </a:solidFill>
                <a:latin typeface="Malgun Gothic"/>
              </a:rPr>
              <a:t>실행</a:t>
            </a:r>
          </a:p>
          <a:p>
            <a:pPr algn="ctr"/>
            <a:r>
              <a:rPr sz="1300">
                <a:solidFill>
                  <a:srgbClr val="FFFFFF"/>
                </a:solidFill>
                <a:latin typeface="Malgun Gothic"/>
              </a:rPr>
              <a:t>로봇이</a:t>
            </a:r>
            <a:br/>
            <a:r>
              <a:rPr sz="1300">
                <a:solidFill>
                  <a:srgbClr val="FFFFFF"/>
                </a:solidFill>
                <a:latin typeface="Malgun Gothic"/>
              </a:rPr>
              <a:t>동작 실행</a:t>
            </a:r>
          </a:p>
        </p:txBody>
      </p:sp>
      <p:sp>
        <p:nvSpPr>
          <p:cNvPr id="14" name="Right Arrow 13"/>
          <p:cNvSpPr/>
          <p:nvPr/>
        </p:nvSpPr>
        <p:spPr>
          <a:xfrm>
            <a:off x="9323679" y="3063240"/>
            <a:ext cx="36576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945471" y="2468880"/>
            <a:ext cx="1737360" cy="155448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900" b="1">
                <a:solidFill>
                  <a:srgbClr val="FFFFFF"/>
                </a:solidFill>
                <a:latin typeface="Malgun Gothic"/>
              </a:rPr>
              <a:t>TTS</a:t>
            </a:r>
          </a:p>
          <a:p>
            <a:pPr algn="ctr"/>
            <a:r>
              <a:rPr sz="1300">
                <a:solidFill>
                  <a:srgbClr val="FFFFFF"/>
                </a:solidFill>
                <a:latin typeface="Malgun Gothic"/>
              </a:rPr>
              <a:t>음성으로</a:t>
            </a:r>
            <a:br/>
            <a:r>
              <a:rPr sz="1300">
                <a:solidFill>
                  <a:srgbClr val="FFFFFF"/>
                </a:solidFill>
                <a:latin typeface="Malgun Gothic"/>
              </a:rPr>
              <a:t>결과 응답</a:t>
            </a:r>
          </a:p>
        </p:txBody>
      </p:sp>
      <p:sp>
        <p:nvSpPr>
          <p:cNvPr id="16" name="TextBox 15"/>
          <p:cNvSpPr txBox="1"/>
          <p:nvPr/>
        </p:nvSpPr>
        <p:spPr>
          <a:xfrm>
            <a:off x="640080" y="4754880"/>
            <a:ext cx="10881360" cy="1463040"/>
          </a:xfrm>
          <a:prstGeom prst="rect">
            <a:avLst/>
          </a:prstGeom>
          <a:noFill/>
        </p:spPr>
        <p:txBody>
          <a:bodyPr wrap="square" anchor="t">
            <a:spAutoFit/>
          </a:bodyPr>
          <a:lstStyle/>
          <a:p>
            <a:pPr algn="ctr">
              <a:lnSpc>
                <a:spcPct val="140000"/>
              </a:lnSpc>
            </a:pPr>
            <a:r>
              <a:rPr sz="1700" b="0" i="0">
                <a:solidFill>
                  <a:srgbClr val="6B7280"/>
                </a:solidFill>
                <a:latin typeface="Malgun Gothic"/>
              </a:rPr>
              <a:t>핵심 포인트: 사람의 '말'이 로봇의 '행동'으로 바뀌는 5단계 파이프라인입니다.</a:t>
            </a:r>
          </a:p>
          <a:p>
            <a:pPr algn="ctr">
              <a:lnSpc>
                <a:spcPct val="140000"/>
              </a:lnSpc>
            </a:pPr>
            <a:r>
              <a:rPr sz="1700" b="0" i="0">
                <a:solidFill>
                  <a:srgbClr val="6B7280"/>
                </a:solidFill>
                <a:latin typeface="Malgun Gothic"/>
              </a:rPr>
              <a:t>이 중 STT · LLM · 실행 세 단계를 조금 더 자세히 살펴보겠습니다.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03-1</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1단계 · 음성 인식 (STT)</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6</a:t>
            </a:r>
          </a:p>
        </p:txBody>
      </p:sp>
      <p:sp>
        <p:nvSpPr>
          <p:cNvPr id="7" name="TextBox 6"/>
          <p:cNvSpPr txBox="1"/>
          <p:nvPr/>
        </p:nvSpPr>
        <p:spPr>
          <a:xfrm>
            <a:off x="640080" y="1920240"/>
            <a:ext cx="6035040" cy="4023360"/>
          </a:xfrm>
          <a:prstGeom prst="rect">
            <a:avLst/>
          </a:prstGeom>
          <a:noFill/>
        </p:spPr>
        <p:txBody>
          <a:bodyPr wrap="square">
            <a:spAutoFit/>
          </a:bodyPr>
          <a:lstStyle/>
          <a:p>
            <a:pPr>
              <a:lnSpc>
                <a:spcPct val="115000"/>
              </a:lnSpc>
              <a:spcAft>
                <a:spcPts val="1800"/>
              </a:spcAft>
            </a:pPr>
            <a:r>
              <a:rPr sz="1900">
                <a:solidFill>
                  <a:srgbClr val="1F2937"/>
                </a:solidFill>
                <a:latin typeface="Malgun Gothic"/>
              </a:rPr>
              <a:t>•  Faster-Whisper 모델을 사용해 실시간으로 음성을 텍스트로 변환</a:t>
            </a:r>
          </a:p>
          <a:p>
            <a:pPr>
              <a:lnSpc>
                <a:spcPct val="115000"/>
              </a:lnSpc>
              <a:spcAft>
                <a:spcPts val="1800"/>
              </a:spcAft>
            </a:pPr>
            <a:r>
              <a:rPr sz="1900">
                <a:solidFill>
                  <a:srgbClr val="1F2937"/>
                </a:solidFill>
                <a:latin typeface="Malgun Gothic"/>
              </a:rPr>
              <a:t>•  VAD(음성 구간 감지)로 사람이 말하기 시작하고 끝나는 순간을 자동으로 감지</a:t>
            </a:r>
          </a:p>
          <a:p>
            <a:pPr>
              <a:lnSpc>
                <a:spcPct val="115000"/>
              </a:lnSpc>
              <a:spcAft>
                <a:spcPts val="1800"/>
              </a:spcAft>
            </a:pPr>
            <a:r>
              <a:rPr sz="1900">
                <a:solidFill>
                  <a:srgbClr val="1F2937"/>
                </a:solidFill>
                <a:latin typeface="Malgun Gothic"/>
              </a:rPr>
              <a:t>•  한국어 음성 인식 지원</a:t>
            </a:r>
          </a:p>
          <a:p>
            <a:pPr>
              <a:lnSpc>
                <a:spcPct val="115000"/>
              </a:lnSpc>
              <a:spcAft>
                <a:spcPts val="1800"/>
              </a:spcAft>
            </a:pPr>
            <a:r>
              <a:rPr sz="1900">
                <a:solidFill>
                  <a:srgbClr val="1F2937"/>
                </a:solidFill>
                <a:latin typeface="Malgun Gothic"/>
              </a:rPr>
              <a:t>•  잡음이 있어도 어느 정도 정확하게 알아들음</a:t>
            </a:r>
          </a:p>
        </p:txBody>
      </p:sp>
      <p:sp>
        <p:nvSpPr>
          <p:cNvPr id="8" name="Rectangle 7"/>
          <p:cNvSpPr/>
          <p:nvPr/>
        </p:nvSpPr>
        <p:spPr>
          <a:xfrm>
            <a:off x="7040880" y="1920240"/>
            <a:ext cx="4480560" cy="402336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2194560"/>
            <a:ext cx="3931920" cy="457200"/>
          </a:xfrm>
          <a:prstGeom prst="rect">
            <a:avLst/>
          </a:prstGeom>
          <a:noFill/>
        </p:spPr>
        <p:txBody>
          <a:bodyPr wrap="square" anchor="t">
            <a:spAutoFit/>
          </a:bodyPr>
          <a:lstStyle/>
          <a:p>
            <a:pPr algn="l">
              <a:lnSpc>
                <a:spcPct val="100000"/>
              </a:lnSpc>
            </a:pPr>
            <a:r>
              <a:rPr sz="1600" b="1" i="0">
                <a:solidFill>
                  <a:srgbClr val="2563EB"/>
                </a:solidFill>
                <a:latin typeface="Malgun Gothic"/>
              </a:rPr>
              <a:t>실제 인식 예시</a:t>
            </a:r>
          </a:p>
        </p:txBody>
      </p:sp>
      <p:sp>
        <p:nvSpPr>
          <p:cNvPr id="10" name="TextBox 9"/>
          <p:cNvSpPr txBox="1"/>
          <p:nvPr/>
        </p:nvSpPr>
        <p:spPr>
          <a:xfrm>
            <a:off x="7315200" y="2743200"/>
            <a:ext cx="3931920" cy="2560320"/>
          </a:xfrm>
          <a:prstGeom prst="rect">
            <a:avLst/>
          </a:prstGeom>
          <a:noFill/>
        </p:spPr>
        <p:txBody>
          <a:bodyPr wrap="square" anchor="t">
            <a:spAutoFit/>
          </a:bodyPr>
          <a:lstStyle/>
          <a:p>
            <a:pPr algn="l">
              <a:lnSpc>
                <a:spcPct val="130000"/>
              </a:lnSpc>
            </a:pPr>
            <a:r>
              <a:rPr sz="1500" b="0" i="0">
                <a:solidFill>
                  <a:srgbClr val="1F2937"/>
                </a:solidFill>
                <a:latin typeface="Malgun Gothic"/>
              </a:rPr>
              <a:t>(사용자 발화)</a:t>
            </a:r>
          </a:p>
          <a:p>
            <a:pPr algn="l">
              <a:lnSpc>
                <a:spcPct val="130000"/>
              </a:lnSpc>
            </a:pPr>
            <a:r>
              <a:rPr sz="1500" b="0" i="0">
                <a:solidFill>
                  <a:srgbClr val="1F2937"/>
                </a:solidFill>
                <a:latin typeface="Malgun Gothic"/>
              </a:rPr>
              <a:t>"일어나서 두 걸음 앞으로</a:t>
            </a:r>
          </a:p>
          <a:p>
            <a:pPr algn="l">
              <a:lnSpc>
                <a:spcPct val="130000"/>
              </a:lnSpc>
            </a:pPr>
            <a:r>
              <a:rPr sz="1500" b="0" i="0">
                <a:solidFill>
                  <a:srgbClr val="1F2937"/>
                </a:solidFill>
                <a:latin typeface="Malgun Gothic"/>
              </a:rPr>
              <a:t>걸어간 다음 하트를 하고</a:t>
            </a:r>
          </a:p>
          <a:p>
            <a:pPr algn="l">
              <a:lnSpc>
                <a:spcPct val="130000"/>
              </a:lnSpc>
            </a:pPr>
            <a:r>
              <a:rPr sz="1500" b="0" i="0">
                <a:solidFill>
                  <a:srgbClr val="1F2937"/>
                </a:solidFill>
                <a:latin typeface="Malgun Gothic"/>
              </a:rPr>
              <a:t>엎드렸다가 다시 일어나"</a:t>
            </a:r>
          </a:p>
          <a:p>
            <a:pPr algn="l">
              <a:lnSpc>
                <a:spcPct val="130000"/>
              </a:lnSpc>
            </a:pPr>
          </a:p>
          <a:p>
            <a:pPr algn="l">
              <a:lnSpc>
                <a:spcPct val="130000"/>
              </a:lnSpc>
            </a:pPr>
            <a:r>
              <a:rPr sz="1500" b="0" i="0">
                <a:solidFill>
                  <a:srgbClr val="1F2937"/>
                </a:solidFill>
                <a:latin typeface="Malgun Gothic"/>
              </a:rPr>
              <a:t>(STT 변환 결과)</a:t>
            </a:r>
          </a:p>
          <a:p>
            <a:pPr algn="l">
              <a:lnSpc>
                <a:spcPct val="130000"/>
              </a:lnSpc>
            </a:pPr>
            <a:r>
              <a:rPr sz="1500" b="0" i="0">
                <a:solidFill>
                  <a:srgbClr val="1F2937"/>
                </a:solidFill>
                <a:latin typeface="Malgun Gothic"/>
              </a:rPr>
              <a:t>위 문장 그대로 텍스트로 변환 성공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03-2</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2단계 · LLM이 명령을 이해</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7</a:t>
            </a:r>
          </a:p>
        </p:txBody>
      </p:sp>
      <p:sp>
        <p:nvSpPr>
          <p:cNvPr id="7" name="TextBox 6"/>
          <p:cNvSpPr txBox="1"/>
          <p:nvPr/>
        </p:nvSpPr>
        <p:spPr>
          <a:xfrm>
            <a:off x="640080" y="1920240"/>
            <a:ext cx="5212080" cy="4206240"/>
          </a:xfrm>
          <a:prstGeom prst="rect">
            <a:avLst/>
          </a:prstGeom>
          <a:noFill/>
        </p:spPr>
        <p:txBody>
          <a:bodyPr wrap="square">
            <a:spAutoFit/>
          </a:bodyPr>
          <a:lstStyle/>
          <a:p>
            <a:pPr>
              <a:lnSpc>
                <a:spcPct val="115000"/>
              </a:lnSpc>
              <a:spcAft>
                <a:spcPts val="1600"/>
              </a:spcAft>
            </a:pPr>
            <a:r>
              <a:rPr sz="1800">
                <a:solidFill>
                  <a:srgbClr val="1F2937"/>
                </a:solidFill>
                <a:latin typeface="Malgun Gothic"/>
              </a:rPr>
              <a:t>•  OpenAI GPT 모델에게 로봇이 할 수 있는 행동 목록을 미리 알려줌</a:t>
            </a:r>
          </a:p>
          <a:p>
            <a:pPr>
              <a:lnSpc>
                <a:spcPct val="115000"/>
              </a:lnSpc>
              <a:spcAft>
                <a:spcPts val="1600"/>
              </a:spcAft>
            </a:pPr>
            <a:r>
              <a:rPr sz="1800">
                <a:solidFill>
                  <a:srgbClr val="1F2937"/>
                </a:solidFill>
                <a:latin typeface="Malgun Gothic"/>
              </a:rPr>
              <a:t>•  사람의 자연어 문장을 로봇이 실행 가능한 명령(JSON)으로 변환</a:t>
            </a:r>
          </a:p>
          <a:p>
            <a:pPr>
              <a:lnSpc>
                <a:spcPct val="115000"/>
              </a:lnSpc>
              <a:spcAft>
                <a:spcPts val="1600"/>
              </a:spcAft>
            </a:pPr>
            <a:r>
              <a:rPr sz="1800">
                <a:solidFill>
                  <a:srgbClr val="1F2937"/>
                </a:solidFill>
                <a:latin typeface="Malgun Gothic"/>
              </a:rPr>
              <a:t>•  여러 동작이 섞인 복합 문장도 순서대로 계획 가능</a:t>
            </a:r>
          </a:p>
          <a:p>
            <a:pPr>
              <a:lnSpc>
                <a:spcPct val="115000"/>
              </a:lnSpc>
              <a:spcAft>
                <a:spcPts val="1600"/>
              </a:spcAft>
            </a:pPr>
            <a:r>
              <a:rPr sz="1800">
                <a:solidFill>
                  <a:srgbClr val="1F2937"/>
                </a:solidFill>
                <a:latin typeface="Malgun Gothic"/>
              </a:rPr>
              <a:t>•  → AI가 이 프로젝트의 '두뇌' 역할</a:t>
            </a:r>
          </a:p>
        </p:txBody>
      </p:sp>
      <p:sp>
        <p:nvSpPr>
          <p:cNvPr id="8" name="Rectangle 7"/>
          <p:cNvSpPr/>
          <p:nvPr/>
        </p:nvSpPr>
        <p:spPr>
          <a:xfrm>
            <a:off x="6126480" y="1920240"/>
            <a:ext cx="5394960" cy="4206240"/>
          </a:xfrm>
          <a:prstGeom prst="rect">
            <a:avLst/>
          </a:prstGeom>
          <a:solidFill>
            <a:srgbClr val="111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2103120"/>
            <a:ext cx="4937760" cy="365760"/>
          </a:xfrm>
          <a:prstGeom prst="rect">
            <a:avLst/>
          </a:prstGeom>
          <a:noFill/>
        </p:spPr>
        <p:txBody>
          <a:bodyPr wrap="square" anchor="t">
            <a:spAutoFit/>
          </a:bodyPr>
          <a:lstStyle/>
          <a:p>
            <a:pPr algn="l">
              <a:lnSpc>
                <a:spcPct val="100000"/>
              </a:lnSpc>
            </a:pPr>
            <a:r>
              <a:rPr sz="1400" b="1" i="0">
                <a:solidFill>
                  <a:srgbClr val="F59E0B"/>
                </a:solidFill>
                <a:latin typeface="Malgun Gothic"/>
              </a:rPr>
              <a:t>LLM이 만들어낸 실제 명령 (일부)</a:t>
            </a:r>
          </a:p>
        </p:txBody>
      </p:sp>
      <p:sp>
        <p:nvSpPr>
          <p:cNvPr id="10" name="TextBox 9"/>
          <p:cNvSpPr txBox="1"/>
          <p:nvPr/>
        </p:nvSpPr>
        <p:spPr>
          <a:xfrm>
            <a:off x="6355080" y="2514600"/>
            <a:ext cx="4937760" cy="3474720"/>
          </a:xfrm>
          <a:prstGeom prst="rect">
            <a:avLst/>
          </a:prstGeom>
          <a:noFill/>
        </p:spPr>
        <p:txBody>
          <a:bodyPr wrap="square" anchor="t">
            <a:spAutoFit/>
          </a:bodyPr>
          <a:lstStyle/>
          <a:p>
            <a:pPr algn="l">
              <a:lnSpc>
                <a:spcPct val="115000"/>
              </a:lnSpc>
            </a:pPr>
            <a:r>
              <a:rPr sz="1400" b="0" i="0">
                <a:solidFill>
                  <a:srgbClr val="FFFFFF"/>
                </a:solidFill>
                <a:latin typeface="Consolas"/>
              </a:rPr>
              <a:t>{</a:t>
            </a:r>
          </a:p>
          <a:p>
            <a:pPr algn="l">
              <a:lnSpc>
                <a:spcPct val="115000"/>
              </a:lnSpc>
            </a:pPr>
            <a:r>
              <a:rPr sz="1400" b="0" i="0">
                <a:solidFill>
                  <a:srgbClr val="FFFFFF"/>
                </a:solidFill>
                <a:latin typeface="Consolas"/>
              </a:rPr>
              <a:t>  "actions": [</a:t>
            </a:r>
          </a:p>
          <a:p>
            <a:pPr algn="l">
              <a:lnSpc>
                <a:spcPct val="115000"/>
              </a:lnSpc>
            </a:pPr>
            <a:r>
              <a:rPr sz="1400" b="0" i="0">
                <a:solidFill>
                  <a:srgbClr val="FFFFFF"/>
                </a:solidFill>
                <a:latin typeface="Consolas"/>
              </a:rPr>
              <a:t>    {"name": "stand_up"},</a:t>
            </a:r>
          </a:p>
          <a:p>
            <a:pPr algn="l">
              <a:lnSpc>
                <a:spcPct val="115000"/>
              </a:lnSpc>
            </a:pPr>
            <a:r>
              <a:rPr sz="1400" b="0" i="0">
                <a:solidFill>
                  <a:srgbClr val="FFFFFF"/>
                </a:solidFill>
                <a:latin typeface="Consolas"/>
              </a:rPr>
              <a:t>    {"name": "move",</a:t>
            </a:r>
          </a:p>
          <a:p>
            <a:pPr algn="l">
              <a:lnSpc>
                <a:spcPct val="115000"/>
              </a:lnSpc>
            </a:pPr>
            <a:r>
              <a:rPr sz="1400" b="0" i="0">
                <a:solidFill>
                  <a:srgbClr val="FFFFFF"/>
                </a:solidFill>
                <a:latin typeface="Consolas"/>
              </a:rPr>
              <a:t>     "vx": 0.5, "duration": 3.0},</a:t>
            </a:r>
          </a:p>
          <a:p>
            <a:pPr algn="l">
              <a:lnSpc>
                <a:spcPct val="115000"/>
              </a:lnSpc>
            </a:pPr>
            <a:r>
              <a:rPr sz="1400" b="0" i="0">
                <a:solidFill>
                  <a:srgbClr val="FFFFFF"/>
                </a:solidFill>
                <a:latin typeface="Consolas"/>
              </a:rPr>
              <a:t>    {"name": "move",</a:t>
            </a:r>
          </a:p>
          <a:p>
            <a:pPr algn="l">
              <a:lnSpc>
                <a:spcPct val="115000"/>
              </a:lnSpc>
            </a:pPr>
            <a:r>
              <a:rPr sz="1400" b="0" i="0">
                <a:solidFill>
                  <a:srgbClr val="FFFFFF"/>
                </a:solidFill>
                <a:latin typeface="Consolas"/>
              </a:rPr>
              <a:t>     "vx": 0.5, "duration": 3.0},</a:t>
            </a:r>
          </a:p>
          <a:p>
            <a:pPr algn="l">
              <a:lnSpc>
                <a:spcPct val="115000"/>
              </a:lnSpc>
            </a:pPr>
            <a:r>
              <a:rPr sz="1400" b="0" i="0">
                <a:solidFill>
                  <a:srgbClr val="FFFFFF"/>
                </a:solidFill>
                <a:latin typeface="Consolas"/>
              </a:rPr>
              <a:t>    {"name": "balanced_stand"},</a:t>
            </a:r>
          </a:p>
          <a:p>
            <a:pPr algn="l">
              <a:lnSpc>
                <a:spcPct val="115000"/>
              </a:lnSpc>
            </a:pPr>
            <a:r>
              <a:rPr sz="1400" b="0" i="0">
                <a:solidFill>
                  <a:srgbClr val="FFFFFF"/>
                </a:solidFill>
                <a:latin typeface="Consolas"/>
              </a:rPr>
              <a:t>    {"name": "stand_down"},</a:t>
            </a:r>
          </a:p>
          <a:p>
            <a:pPr algn="l">
              <a:lnSpc>
                <a:spcPct val="115000"/>
              </a:lnSpc>
            </a:pPr>
            <a:r>
              <a:rPr sz="1400" b="0" i="0">
                <a:solidFill>
                  <a:srgbClr val="FFFFFF"/>
                </a:solidFill>
                <a:latin typeface="Consolas"/>
              </a:rPr>
              <a:t>    {"name": "stand_up"}</a:t>
            </a:r>
          </a:p>
          <a:p>
            <a:pPr algn="l">
              <a:lnSpc>
                <a:spcPct val="115000"/>
              </a:lnSpc>
            </a:pPr>
            <a:r>
              <a:rPr sz="1400" b="0" i="0">
                <a:solidFill>
                  <a:srgbClr val="FFFFFF"/>
                </a:solidFill>
                <a:latin typeface="Consolas"/>
              </a:rPr>
              <a:t>  ]</a:t>
            </a:r>
          </a:p>
          <a:p>
            <a:pPr algn="l">
              <a:lnSpc>
                <a:spcPct val="115000"/>
              </a:lnSpc>
            </a:pPr>
            <a:r>
              <a:rPr sz="1400" b="0" i="0">
                <a:solidFill>
                  <a:srgbClr val="FFFFFF"/>
                </a:solidFill>
                <a:latin typeface="Consola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03-3</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3단계 · 로봇이 실제로 움직이기까지</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8</a:t>
            </a:r>
          </a:p>
        </p:txBody>
      </p:sp>
      <p:sp>
        <p:nvSpPr>
          <p:cNvPr id="7" name="Rectangle 6"/>
          <p:cNvSpPr/>
          <p:nvPr/>
        </p:nvSpPr>
        <p:spPr>
          <a:xfrm>
            <a:off x="822960" y="1965960"/>
            <a:ext cx="10515600" cy="77724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39112"/>
            <a:ext cx="3291840" cy="640080"/>
          </a:xfrm>
          <a:prstGeom prst="rect">
            <a:avLst/>
          </a:prstGeom>
          <a:noFill/>
        </p:spPr>
        <p:txBody>
          <a:bodyPr wrap="square" anchor="ctr">
            <a:spAutoFit/>
          </a:bodyPr>
          <a:lstStyle/>
          <a:p>
            <a:pPr algn="l">
              <a:lnSpc>
                <a:spcPct val="100000"/>
              </a:lnSpc>
            </a:pPr>
            <a:r>
              <a:rPr sz="1700" b="1" i="0">
                <a:solidFill>
                  <a:srgbClr val="111C33"/>
                </a:solidFill>
                <a:latin typeface="Malgun Gothic"/>
              </a:rPr>
              <a:t>RobotController</a:t>
            </a:r>
          </a:p>
        </p:txBody>
      </p:sp>
      <p:sp>
        <p:nvSpPr>
          <p:cNvPr id="9" name="TextBox 8"/>
          <p:cNvSpPr txBox="1"/>
          <p:nvPr/>
        </p:nvSpPr>
        <p:spPr>
          <a:xfrm>
            <a:off x="4480560" y="2039112"/>
            <a:ext cx="6675120" cy="640080"/>
          </a:xfrm>
          <a:prstGeom prst="rect">
            <a:avLst/>
          </a:prstGeom>
          <a:noFill/>
        </p:spPr>
        <p:txBody>
          <a:bodyPr wrap="square" anchor="ctr">
            <a:spAutoFit/>
          </a:bodyPr>
          <a:lstStyle/>
          <a:p>
            <a:pPr algn="l">
              <a:lnSpc>
                <a:spcPct val="100000"/>
              </a:lnSpc>
            </a:pPr>
            <a:r>
              <a:rPr sz="1500" b="0" i="0">
                <a:solidFill>
                  <a:srgbClr val="1F2937"/>
                </a:solidFill>
                <a:latin typeface="Malgun Gothic"/>
              </a:rPr>
              <a:t>명령 이름을 받아서 실행 요청</a:t>
            </a:r>
          </a:p>
        </p:txBody>
      </p:sp>
      <p:sp>
        <p:nvSpPr>
          <p:cNvPr id="10" name="Rectangle 9"/>
          <p:cNvSpPr/>
          <p:nvPr/>
        </p:nvSpPr>
        <p:spPr>
          <a:xfrm>
            <a:off x="822960" y="2926080"/>
            <a:ext cx="10515600"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999232"/>
            <a:ext cx="3291840" cy="640080"/>
          </a:xfrm>
          <a:prstGeom prst="rect">
            <a:avLst/>
          </a:prstGeom>
          <a:noFill/>
        </p:spPr>
        <p:txBody>
          <a:bodyPr wrap="square" anchor="ctr">
            <a:spAutoFit/>
          </a:bodyPr>
          <a:lstStyle/>
          <a:p>
            <a:pPr algn="l">
              <a:lnSpc>
                <a:spcPct val="100000"/>
              </a:lnSpc>
            </a:pPr>
            <a:r>
              <a:rPr sz="1700" b="1" i="0">
                <a:solidFill>
                  <a:srgbClr val="111C33"/>
                </a:solidFill>
                <a:latin typeface="Malgun Gothic"/>
              </a:rPr>
              <a:t>BehaviorExecutor</a:t>
            </a:r>
          </a:p>
        </p:txBody>
      </p:sp>
      <p:sp>
        <p:nvSpPr>
          <p:cNvPr id="12" name="TextBox 11"/>
          <p:cNvSpPr txBox="1"/>
          <p:nvPr/>
        </p:nvSpPr>
        <p:spPr>
          <a:xfrm>
            <a:off x="4480560" y="2999232"/>
            <a:ext cx="6675120" cy="640080"/>
          </a:xfrm>
          <a:prstGeom prst="rect">
            <a:avLst/>
          </a:prstGeom>
          <a:noFill/>
        </p:spPr>
        <p:txBody>
          <a:bodyPr wrap="square" anchor="ctr">
            <a:spAutoFit/>
          </a:bodyPr>
          <a:lstStyle/>
          <a:p>
            <a:pPr algn="l">
              <a:lnSpc>
                <a:spcPct val="100000"/>
              </a:lnSpc>
            </a:pPr>
            <a:r>
              <a:rPr sz="1500" b="0" i="0">
                <a:solidFill>
                  <a:srgbClr val="1F2937"/>
                </a:solidFill>
                <a:latin typeface="Malgun Gothic"/>
              </a:rPr>
              <a:t>안전 체크 후 실제 동작 실행 (대기시간·상태 관리)</a:t>
            </a:r>
          </a:p>
        </p:txBody>
      </p:sp>
      <p:sp>
        <p:nvSpPr>
          <p:cNvPr id="13" name="Rectangle 12"/>
          <p:cNvSpPr/>
          <p:nvPr/>
        </p:nvSpPr>
        <p:spPr>
          <a:xfrm>
            <a:off x="822960" y="3886200"/>
            <a:ext cx="10515600" cy="77724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959352"/>
            <a:ext cx="3291840" cy="640080"/>
          </a:xfrm>
          <a:prstGeom prst="rect">
            <a:avLst/>
          </a:prstGeom>
          <a:noFill/>
        </p:spPr>
        <p:txBody>
          <a:bodyPr wrap="square" anchor="ctr">
            <a:spAutoFit/>
          </a:bodyPr>
          <a:lstStyle/>
          <a:p>
            <a:pPr algn="l">
              <a:lnSpc>
                <a:spcPct val="100000"/>
              </a:lnSpc>
            </a:pPr>
            <a:r>
              <a:rPr sz="1700" b="1" i="0">
                <a:solidFill>
                  <a:srgbClr val="111C33"/>
                </a:solidFill>
                <a:latin typeface="Malgun Gothic"/>
              </a:rPr>
              <a:t>SportClient (Unitree SDK)</a:t>
            </a:r>
          </a:p>
        </p:txBody>
      </p:sp>
      <p:sp>
        <p:nvSpPr>
          <p:cNvPr id="15" name="TextBox 14"/>
          <p:cNvSpPr txBox="1"/>
          <p:nvPr/>
        </p:nvSpPr>
        <p:spPr>
          <a:xfrm>
            <a:off x="4480560" y="3959352"/>
            <a:ext cx="6675120" cy="640080"/>
          </a:xfrm>
          <a:prstGeom prst="rect">
            <a:avLst/>
          </a:prstGeom>
          <a:noFill/>
        </p:spPr>
        <p:txBody>
          <a:bodyPr wrap="square" anchor="ctr">
            <a:spAutoFit/>
          </a:bodyPr>
          <a:lstStyle/>
          <a:p>
            <a:pPr algn="l">
              <a:lnSpc>
                <a:spcPct val="100000"/>
              </a:lnSpc>
            </a:pPr>
            <a:r>
              <a:rPr sz="1500" b="0" i="0">
                <a:solidFill>
                  <a:srgbClr val="1F2937"/>
                </a:solidFill>
                <a:latin typeface="Malgun Gothic"/>
              </a:rPr>
              <a:t>로봇 하드웨어에 직접 신호 전달</a:t>
            </a:r>
          </a:p>
        </p:txBody>
      </p:sp>
      <p:sp>
        <p:nvSpPr>
          <p:cNvPr id="16" name="Rectangle 15"/>
          <p:cNvSpPr/>
          <p:nvPr/>
        </p:nvSpPr>
        <p:spPr>
          <a:xfrm>
            <a:off x="822960" y="4846320"/>
            <a:ext cx="10515600" cy="77724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919472"/>
            <a:ext cx="3291840" cy="640080"/>
          </a:xfrm>
          <a:prstGeom prst="rect">
            <a:avLst/>
          </a:prstGeom>
          <a:noFill/>
        </p:spPr>
        <p:txBody>
          <a:bodyPr wrap="square" anchor="ctr">
            <a:spAutoFit/>
          </a:bodyPr>
          <a:lstStyle/>
          <a:p>
            <a:pPr algn="l">
              <a:lnSpc>
                <a:spcPct val="100000"/>
              </a:lnSpc>
            </a:pPr>
            <a:r>
              <a:rPr sz="1700" b="1" i="0">
                <a:solidFill>
                  <a:srgbClr val="111C33"/>
                </a:solidFill>
                <a:latin typeface="Malgun Gothic"/>
              </a:rPr>
              <a:t>Go2 로봇 모터/관절</a:t>
            </a:r>
          </a:p>
        </p:txBody>
      </p:sp>
      <p:sp>
        <p:nvSpPr>
          <p:cNvPr id="18" name="TextBox 17"/>
          <p:cNvSpPr txBox="1"/>
          <p:nvPr/>
        </p:nvSpPr>
        <p:spPr>
          <a:xfrm>
            <a:off x="4480560" y="4919472"/>
            <a:ext cx="6675120" cy="640080"/>
          </a:xfrm>
          <a:prstGeom prst="rect">
            <a:avLst/>
          </a:prstGeom>
          <a:noFill/>
        </p:spPr>
        <p:txBody>
          <a:bodyPr wrap="square" anchor="ctr">
            <a:spAutoFit/>
          </a:bodyPr>
          <a:lstStyle/>
          <a:p>
            <a:pPr algn="l">
              <a:lnSpc>
                <a:spcPct val="100000"/>
              </a:lnSpc>
            </a:pPr>
            <a:r>
              <a:rPr sz="1500" b="0" i="0">
                <a:solidFill>
                  <a:srgbClr val="1F2937"/>
                </a:solidFill>
                <a:latin typeface="Malgun Gothic"/>
              </a:rPr>
              <a:t>실제로 다리가 움직임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04</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로봇이 할 수 있는 20가지 행동</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9</a:t>
            </a:r>
          </a:p>
        </p:txBody>
      </p:sp>
      <p:sp>
        <p:nvSpPr>
          <p:cNvPr id="7" name="Rounded Rectangle 6"/>
          <p:cNvSpPr/>
          <p:nvPr/>
        </p:nvSpPr>
        <p:spPr>
          <a:xfrm>
            <a:off x="822960" y="1965960"/>
            <a:ext cx="1645920" cy="548640"/>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FFFFFF"/>
                </a:solidFill>
                <a:latin typeface="Malgun Gothic"/>
              </a:rPr>
              <a:t>자세</a:t>
            </a:r>
          </a:p>
        </p:txBody>
      </p:sp>
      <p:sp>
        <p:nvSpPr>
          <p:cNvPr id="8" name="TextBox 7"/>
          <p:cNvSpPr txBox="1"/>
          <p:nvPr/>
        </p:nvSpPr>
        <p:spPr>
          <a:xfrm>
            <a:off x="2651760" y="1984248"/>
            <a:ext cx="8595360" cy="548640"/>
          </a:xfrm>
          <a:prstGeom prst="rect">
            <a:avLst/>
          </a:prstGeom>
          <a:noFill/>
        </p:spPr>
        <p:txBody>
          <a:bodyPr wrap="square" anchor="ctr">
            <a:spAutoFit/>
          </a:bodyPr>
          <a:lstStyle/>
          <a:p>
            <a:pPr algn="l">
              <a:lnSpc>
                <a:spcPct val="100000"/>
              </a:lnSpc>
            </a:pPr>
            <a:r>
              <a:rPr sz="1700" b="0" i="0">
                <a:solidFill>
                  <a:srgbClr val="1F2937"/>
                </a:solidFill>
                <a:latin typeface="Malgun Gothic"/>
              </a:rPr>
              <a:t>일어서기 · 앉기(엎드리기) · 회복 자세</a:t>
            </a:r>
          </a:p>
        </p:txBody>
      </p:sp>
      <p:sp>
        <p:nvSpPr>
          <p:cNvPr id="9" name="Rounded Rectangle 8"/>
          <p:cNvSpPr/>
          <p:nvPr/>
        </p:nvSpPr>
        <p:spPr>
          <a:xfrm>
            <a:off x="822960" y="2788920"/>
            <a:ext cx="1645920" cy="54864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FFFFFF"/>
                </a:solidFill>
                <a:latin typeface="Malgun Gothic"/>
              </a:rPr>
              <a:t>이동</a:t>
            </a:r>
          </a:p>
        </p:txBody>
      </p:sp>
      <p:sp>
        <p:nvSpPr>
          <p:cNvPr id="10" name="TextBox 9"/>
          <p:cNvSpPr txBox="1"/>
          <p:nvPr/>
        </p:nvSpPr>
        <p:spPr>
          <a:xfrm>
            <a:off x="2651760" y="2807208"/>
            <a:ext cx="8595360" cy="548640"/>
          </a:xfrm>
          <a:prstGeom prst="rect">
            <a:avLst/>
          </a:prstGeom>
          <a:noFill/>
        </p:spPr>
        <p:txBody>
          <a:bodyPr wrap="square" anchor="ctr">
            <a:spAutoFit/>
          </a:bodyPr>
          <a:lstStyle/>
          <a:p>
            <a:pPr algn="l">
              <a:lnSpc>
                <a:spcPct val="100000"/>
              </a:lnSpc>
            </a:pPr>
            <a:r>
              <a:rPr sz="1700" b="0" i="0">
                <a:solidFill>
                  <a:srgbClr val="1F2937"/>
                </a:solidFill>
                <a:latin typeface="Malgun Gothic"/>
              </a:rPr>
              <a:t>전진 · 후진 · 좌우 이동 · 회전</a:t>
            </a:r>
          </a:p>
        </p:txBody>
      </p:sp>
      <p:sp>
        <p:nvSpPr>
          <p:cNvPr id="11" name="Rounded Rectangle 10"/>
          <p:cNvSpPr/>
          <p:nvPr/>
        </p:nvSpPr>
        <p:spPr>
          <a:xfrm>
            <a:off x="822960" y="3611880"/>
            <a:ext cx="1645920" cy="54864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FFFFFF"/>
                </a:solidFill>
                <a:latin typeface="Malgun Gothic"/>
              </a:rPr>
              <a:t>묘기</a:t>
            </a:r>
          </a:p>
        </p:txBody>
      </p:sp>
      <p:sp>
        <p:nvSpPr>
          <p:cNvPr id="12" name="TextBox 11"/>
          <p:cNvSpPr txBox="1"/>
          <p:nvPr/>
        </p:nvSpPr>
        <p:spPr>
          <a:xfrm>
            <a:off x="2651760" y="3630168"/>
            <a:ext cx="8595360" cy="548640"/>
          </a:xfrm>
          <a:prstGeom prst="rect">
            <a:avLst/>
          </a:prstGeom>
          <a:noFill/>
        </p:spPr>
        <p:txBody>
          <a:bodyPr wrap="square" anchor="ctr">
            <a:spAutoFit/>
          </a:bodyPr>
          <a:lstStyle/>
          <a:p>
            <a:pPr algn="l">
              <a:lnSpc>
                <a:spcPct val="100000"/>
              </a:lnSpc>
            </a:pPr>
            <a:r>
              <a:rPr sz="1700" b="0" i="0">
                <a:solidFill>
                  <a:srgbClr val="1F2937"/>
                </a:solidFill>
                <a:latin typeface="Malgun Gothic"/>
              </a:rPr>
              <a:t>백플립 · 프론트플립 · 핸드스탠드 · 옆으로 회전</a:t>
            </a:r>
          </a:p>
        </p:txBody>
      </p:sp>
      <p:sp>
        <p:nvSpPr>
          <p:cNvPr id="13" name="Rounded Rectangle 12"/>
          <p:cNvSpPr/>
          <p:nvPr/>
        </p:nvSpPr>
        <p:spPr>
          <a:xfrm>
            <a:off x="822960" y="4434840"/>
            <a:ext cx="1645920" cy="548640"/>
          </a:xfrm>
          <a:prstGeom prst="roundRect">
            <a:avLst>
              <a:gd name="adj" fmla="val 50000"/>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FFFFFF"/>
                </a:solidFill>
                <a:latin typeface="Malgun Gothic"/>
              </a:rPr>
              <a:t>감성 표현</a:t>
            </a:r>
          </a:p>
        </p:txBody>
      </p:sp>
      <p:sp>
        <p:nvSpPr>
          <p:cNvPr id="14" name="TextBox 13"/>
          <p:cNvSpPr txBox="1"/>
          <p:nvPr/>
        </p:nvSpPr>
        <p:spPr>
          <a:xfrm>
            <a:off x="2651760" y="4453128"/>
            <a:ext cx="8595360" cy="548640"/>
          </a:xfrm>
          <a:prstGeom prst="rect">
            <a:avLst/>
          </a:prstGeom>
          <a:noFill/>
        </p:spPr>
        <p:txBody>
          <a:bodyPr wrap="square" anchor="ctr">
            <a:spAutoFit/>
          </a:bodyPr>
          <a:lstStyle/>
          <a:p>
            <a:pPr algn="l">
              <a:lnSpc>
                <a:spcPct val="100000"/>
              </a:lnSpc>
            </a:pPr>
            <a:r>
              <a:rPr sz="1700" b="0" i="0">
                <a:solidFill>
                  <a:srgbClr val="1F2937"/>
                </a:solidFill>
                <a:latin typeface="Malgun Gothic"/>
              </a:rPr>
              <a:t>하트 포즈 · 인사(손 흔들기) · 춤 1·2 · 스트레칭</a:t>
            </a:r>
          </a:p>
        </p:txBody>
      </p:sp>
      <p:sp>
        <p:nvSpPr>
          <p:cNvPr id="15" name="Rounded Rectangle 14"/>
          <p:cNvSpPr/>
          <p:nvPr/>
        </p:nvSpPr>
        <p:spPr>
          <a:xfrm>
            <a:off x="822960" y="5257800"/>
            <a:ext cx="1645920" cy="54864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FFFFFF"/>
                </a:solidFill>
                <a:latin typeface="Malgun Gothic"/>
              </a:rPr>
              <a:t>안전</a:t>
            </a:r>
          </a:p>
        </p:txBody>
      </p:sp>
      <p:sp>
        <p:nvSpPr>
          <p:cNvPr id="16" name="TextBox 15"/>
          <p:cNvSpPr txBox="1"/>
          <p:nvPr/>
        </p:nvSpPr>
        <p:spPr>
          <a:xfrm>
            <a:off x="2651760" y="5276088"/>
            <a:ext cx="8595360" cy="548640"/>
          </a:xfrm>
          <a:prstGeom prst="rect">
            <a:avLst/>
          </a:prstGeom>
          <a:noFill/>
        </p:spPr>
        <p:txBody>
          <a:bodyPr wrap="square" anchor="ctr">
            <a:spAutoFit/>
          </a:bodyPr>
          <a:lstStyle/>
          <a:p>
            <a:pPr algn="l">
              <a:lnSpc>
                <a:spcPct val="100000"/>
              </a:lnSpc>
            </a:pPr>
            <a:r>
              <a:rPr sz="1700" b="0" i="0">
                <a:solidFill>
                  <a:srgbClr val="1F2937"/>
                </a:solidFill>
                <a:latin typeface="Malgun Gothic"/>
              </a:rPr>
              <a:t>정지 · 댐핑(힘 빼기) · 장애물 회피 모드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05</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실제 동작 시연 시나리오</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10</a:t>
            </a:r>
          </a:p>
        </p:txBody>
      </p:sp>
      <p:sp>
        <p:nvSpPr>
          <p:cNvPr id="7" name="Rectangle 6"/>
          <p:cNvSpPr/>
          <p:nvPr/>
        </p:nvSpPr>
        <p:spPr>
          <a:xfrm>
            <a:off x="822960" y="1828800"/>
            <a:ext cx="10515600" cy="91440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640080"/>
          </a:xfrm>
          <a:prstGeom prst="rect">
            <a:avLst/>
          </a:prstGeom>
          <a:noFill/>
        </p:spPr>
        <p:txBody>
          <a:bodyPr wrap="square" anchor="ctr">
            <a:spAutoFit/>
          </a:bodyPr>
          <a:lstStyle/>
          <a:p>
            <a:pPr algn="l">
              <a:lnSpc>
                <a:spcPct val="100000"/>
              </a:lnSpc>
            </a:pPr>
            <a:r>
              <a:rPr sz="1800" b="1" i="0">
                <a:solidFill>
                  <a:srgbClr val="111C33"/>
                </a:solidFill>
                <a:latin typeface="Malgun Gothic"/>
              </a:rPr>
              <a:t>"일어나서 두 걸음 앞으로 걸어간 다음 하트를 하고 엎드렸다가 다시 일어나"</a:t>
            </a:r>
          </a:p>
        </p:txBody>
      </p:sp>
      <p:sp>
        <p:nvSpPr>
          <p:cNvPr id="9" name="Rounded Rectangle 8"/>
          <p:cNvSpPr/>
          <p:nvPr/>
        </p:nvSpPr>
        <p:spPr>
          <a:xfrm>
            <a:off x="906627" y="3200400"/>
            <a:ext cx="1965960" cy="6858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Malgun Gothic"/>
              </a:rPr>
              <a:t>① 일어서기</a:t>
            </a:r>
          </a:p>
        </p:txBody>
      </p:sp>
      <p:sp>
        <p:nvSpPr>
          <p:cNvPr id="10" name="Rounded Rectangle 9"/>
          <p:cNvSpPr/>
          <p:nvPr/>
        </p:nvSpPr>
        <p:spPr>
          <a:xfrm>
            <a:off x="3009747" y="3200400"/>
            <a:ext cx="1965960" cy="685800"/>
          </a:xfrm>
          <a:prstGeom prst="roundRect">
            <a:avLst>
              <a:gd name="adj" fmla="val 50000"/>
            </a:avLst>
          </a:prstGeom>
          <a:solidFill>
            <a:srgbClr val="111C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Malgun Gothic"/>
              </a:rPr>
              <a:t>② 전진 2걸음</a:t>
            </a:r>
          </a:p>
        </p:txBody>
      </p:sp>
      <p:sp>
        <p:nvSpPr>
          <p:cNvPr id="11" name="Rounded Rectangle 10"/>
          <p:cNvSpPr/>
          <p:nvPr/>
        </p:nvSpPr>
        <p:spPr>
          <a:xfrm>
            <a:off x="5112867" y="3200400"/>
            <a:ext cx="1965960" cy="6858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Malgun Gothic"/>
              </a:rPr>
              <a:t>③ 하트 포즈</a:t>
            </a:r>
          </a:p>
        </p:txBody>
      </p:sp>
      <p:sp>
        <p:nvSpPr>
          <p:cNvPr id="12" name="Rounded Rectangle 11"/>
          <p:cNvSpPr/>
          <p:nvPr/>
        </p:nvSpPr>
        <p:spPr>
          <a:xfrm>
            <a:off x="7215987" y="3200400"/>
            <a:ext cx="1965960" cy="685800"/>
          </a:xfrm>
          <a:prstGeom prst="roundRect">
            <a:avLst>
              <a:gd name="adj" fmla="val 50000"/>
            </a:avLst>
          </a:prstGeom>
          <a:solidFill>
            <a:srgbClr val="111C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Malgun Gothic"/>
              </a:rPr>
              <a:t>④ 엎드리기</a:t>
            </a:r>
          </a:p>
        </p:txBody>
      </p:sp>
      <p:sp>
        <p:nvSpPr>
          <p:cNvPr id="13" name="Rounded Rectangle 12"/>
          <p:cNvSpPr/>
          <p:nvPr/>
        </p:nvSpPr>
        <p:spPr>
          <a:xfrm>
            <a:off x="9319107" y="3200400"/>
            <a:ext cx="1965960" cy="6858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Malgun Gothic"/>
              </a:rPr>
              <a:t>⑤ 다시 일어서기</a:t>
            </a:r>
          </a:p>
        </p:txBody>
      </p:sp>
      <p:sp>
        <p:nvSpPr>
          <p:cNvPr id="14" name="TextBox 13"/>
          <p:cNvSpPr txBox="1"/>
          <p:nvPr/>
        </p:nvSpPr>
        <p:spPr>
          <a:xfrm>
            <a:off x="822960" y="4389120"/>
            <a:ext cx="10515600" cy="457200"/>
          </a:xfrm>
          <a:prstGeom prst="rect">
            <a:avLst/>
          </a:prstGeom>
          <a:noFill/>
        </p:spPr>
        <p:txBody>
          <a:bodyPr wrap="square" anchor="t">
            <a:spAutoFit/>
          </a:bodyPr>
          <a:lstStyle/>
          <a:p>
            <a:pPr algn="l">
              <a:lnSpc>
                <a:spcPct val="100000"/>
              </a:lnSpc>
            </a:pPr>
            <a:r>
              <a:rPr sz="1700" b="1" i="0">
                <a:solidFill>
                  <a:srgbClr val="2563EB"/>
                </a:solidFill>
                <a:latin typeface="Malgun Gothic"/>
              </a:rPr>
              <a:t>실행 결과</a:t>
            </a:r>
          </a:p>
        </p:txBody>
      </p:sp>
      <p:sp>
        <p:nvSpPr>
          <p:cNvPr id="15" name="TextBox 14"/>
          <p:cNvSpPr txBox="1"/>
          <p:nvPr/>
        </p:nvSpPr>
        <p:spPr>
          <a:xfrm>
            <a:off x="822960" y="4846320"/>
            <a:ext cx="10332720" cy="1737360"/>
          </a:xfrm>
          <a:prstGeom prst="rect">
            <a:avLst/>
          </a:prstGeom>
          <a:noFill/>
        </p:spPr>
        <p:txBody>
          <a:bodyPr wrap="square">
            <a:spAutoFit/>
          </a:bodyPr>
          <a:lstStyle/>
          <a:p>
            <a:pPr>
              <a:lnSpc>
                <a:spcPct val="115000"/>
              </a:lnSpc>
              <a:spcAft>
                <a:spcPts val="800"/>
              </a:spcAft>
            </a:pPr>
            <a:r>
              <a:rPr sz="1600">
                <a:solidFill>
                  <a:srgbClr val="1F2937"/>
                </a:solidFill>
                <a:latin typeface="Malgun Gothic"/>
              </a:rPr>
              <a:t>•  5개의 동작이 순서대로, 하나도 빠짐없이 자동 실행됨</a:t>
            </a:r>
          </a:p>
          <a:p>
            <a:pPr>
              <a:lnSpc>
                <a:spcPct val="115000"/>
              </a:lnSpc>
              <a:spcAft>
                <a:spcPts val="800"/>
              </a:spcAft>
            </a:pPr>
            <a:r>
              <a:rPr sz="1600">
                <a:solidFill>
                  <a:srgbClr val="1F2937"/>
                </a:solidFill>
                <a:latin typeface="Malgun Gothic"/>
              </a:rPr>
              <a:t>•  동작 사이 안전 대기시간을 유지하면서도 전체 흐름은 자연스럽게 이어짐</a:t>
            </a:r>
          </a:p>
          <a:p>
            <a:pPr>
              <a:lnSpc>
                <a:spcPct val="115000"/>
              </a:lnSpc>
              <a:spcAft>
                <a:spcPts val="800"/>
              </a:spcAft>
            </a:pPr>
            <a:r>
              <a:rPr sz="1600">
                <a:solidFill>
                  <a:srgbClr val="1F2937"/>
                </a:solidFill>
                <a:latin typeface="Malgun Gothic"/>
              </a:rPr>
              <a:t>•  완료 후 TTS로 "일어났어요! 두 걸음 걸어갔고, 하트를 하고 엎드렸다가 다시 일어났어요" 음성 응답</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06-1</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문제 1 · 명령이 많아질수록 너무 느려졌다</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11</a:t>
            </a:r>
          </a:p>
        </p:txBody>
      </p:sp>
      <p:sp>
        <p:nvSpPr>
          <p:cNvPr id="7" name="TextBox 6"/>
          <p:cNvSpPr txBox="1"/>
          <p:nvPr/>
        </p:nvSpPr>
        <p:spPr>
          <a:xfrm>
            <a:off x="640080" y="1874519"/>
            <a:ext cx="10607040" cy="548640"/>
          </a:xfrm>
          <a:prstGeom prst="rect">
            <a:avLst/>
          </a:prstGeom>
          <a:noFill/>
        </p:spPr>
        <p:txBody>
          <a:bodyPr wrap="square" anchor="t">
            <a:spAutoFit/>
          </a:bodyPr>
          <a:lstStyle/>
          <a:p>
            <a:pPr algn="l">
              <a:lnSpc>
                <a:spcPct val="100000"/>
              </a:lnSpc>
            </a:pPr>
            <a:r>
              <a:rPr sz="1800" b="0" i="0">
                <a:solidFill>
                  <a:srgbClr val="6B7280"/>
                </a:solidFill>
                <a:latin typeface="Malgun Gothic"/>
              </a:rPr>
              <a:t>동작 하나마다 안전을 위한 '대기시간'이 있는데, 명령을 이어붙일수록 그 시간이 계속 쌓임</a:t>
            </a:r>
          </a:p>
        </p:txBody>
      </p:sp>
      <p:sp>
        <p:nvSpPr>
          <p:cNvPr id="8" name="Rectangle 7"/>
          <p:cNvSpPr/>
          <p:nvPr/>
        </p:nvSpPr>
        <p:spPr>
          <a:xfrm>
            <a:off x="640080" y="2560320"/>
            <a:ext cx="10607040" cy="137160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97480"/>
            <a:ext cx="10058400" cy="1097280"/>
          </a:xfrm>
          <a:prstGeom prst="rect">
            <a:avLst/>
          </a:prstGeom>
          <a:noFill/>
        </p:spPr>
        <p:txBody>
          <a:bodyPr wrap="square" anchor="t">
            <a:spAutoFit/>
          </a:bodyPr>
          <a:lstStyle/>
          <a:p>
            <a:pPr algn="l">
              <a:lnSpc>
                <a:spcPct val="140000"/>
              </a:lnSpc>
            </a:pPr>
            <a:r>
              <a:rPr sz="1800" b="0" i="0">
                <a:solidFill>
                  <a:srgbClr val="DC2626"/>
                </a:solidFill>
                <a:latin typeface="Malgun Gothic"/>
              </a:rPr>
              <a:t>"일어서기 → 이동 → 하트 → 엎드리기 → 일어서기" 명령 하나에</a:t>
            </a:r>
          </a:p>
          <a:p>
            <a:pPr algn="l">
              <a:lnSpc>
                <a:spcPct val="140000"/>
              </a:lnSpc>
            </a:pPr>
            <a:r>
              <a:rPr sz="1800" b="0" i="0">
                <a:solidFill>
                  <a:srgbClr val="DC2626"/>
                </a:solidFill>
                <a:latin typeface="Malgun Gothic"/>
              </a:rPr>
              <a:t>     약 19초가 걸림 (그중 2초는 완전히 불필요한 중복 대기였음)</a:t>
            </a:r>
          </a:p>
        </p:txBody>
      </p:sp>
      <p:sp>
        <p:nvSpPr>
          <p:cNvPr id="10" name="TextBox 9"/>
          <p:cNvSpPr txBox="1"/>
          <p:nvPr/>
        </p:nvSpPr>
        <p:spPr>
          <a:xfrm>
            <a:off x="640080" y="4206240"/>
            <a:ext cx="10607040" cy="457200"/>
          </a:xfrm>
          <a:prstGeom prst="rect">
            <a:avLst/>
          </a:prstGeom>
          <a:noFill/>
        </p:spPr>
        <p:txBody>
          <a:bodyPr wrap="square" anchor="t">
            <a:spAutoFit/>
          </a:bodyPr>
          <a:lstStyle/>
          <a:p>
            <a:pPr algn="l">
              <a:lnSpc>
                <a:spcPct val="100000"/>
              </a:lnSpc>
            </a:pPr>
            <a:r>
              <a:rPr sz="1900" b="1" i="0">
                <a:solidFill>
                  <a:srgbClr val="16A34A"/>
                </a:solidFill>
                <a:latin typeface="Malgun Gothic"/>
              </a:rPr>
              <a:t>해결 방법</a:t>
            </a:r>
          </a:p>
        </p:txBody>
      </p:sp>
      <p:sp>
        <p:nvSpPr>
          <p:cNvPr id="11" name="TextBox 10"/>
          <p:cNvSpPr txBox="1"/>
          <p:nvPr/>
        </p:nvSpPr>
        <p:spPr>
          <a:xfrm>
            <a:off x="822960" y="4709160"/>
            <a:ext cx="10332720" cy="1737360"/>
          </a:xfrm>
          <a:prstGeom prst="rect">
            <a:avLst/>
          </a:prstGeom>
          <a:noFill/>
        </p:spPr>
        <p:txBody>
          <a:bodyPr wrap="square">
            <a:spAutoFit/>
          </a:bodyPr>
          <a:lstStyle/>
          <a:p>
            <a:pPr>
              <a:lnSpc>
                <a:spcPct val="115000"/>
              </a:lnSpc>
              <a:spcAft>
                <a:spcPts val="1000"/>
              </a:spcAft>
            </a:pPr>
            <a:r>
              <a:rPr sz="1700">
                <a:solidFill>
                  <a:srgbClr val="1F2937"/>
                </a:solidFill>
                <a:latin typeface="Malgun Gothic"/>
              </a:rPr>
              <a:t>•  '일어서기' 동작이 끝난 뒤 불필요하게 한 번 더 반복 실행되던 버그 제거</a:t>
            </a:r>
          </a:p>
          <a:p>
            <a:pPr>
              <a:lnSpc>
                <a:spcPct val="115000"/>
              </a:lnSpc>
              <a:spcAft>
                <a:spcPts val="1000"/>
              </a:spcAft>
            </a:pPr>
            <a:r>
              <a:rPr sz="1700">
                <a:solidFill>
                  <a:srgbClr val="1F2937"/>
                </a:solidFill>
                <a:latin typeface="Malgun Gothic"/>
              </a:rPr>
              <a:t>•  같은 방향으로 가는 이동 명령 여러 개를 하나로 합쳐서 실행 (멈췄다 다시 출발하는 낭비 제거)</a:t>
            </a:r>
          </a:p>
          <a:p>
            <a:pPr>
              <a:lnSpc>
                <a:spcPct val="115000"/>
              </a:lnSpc>
              <a:spcAft>
                <a:spcPts val="1000"/>
              </a:spcAft>
            </a:pPr>
            <a:r>
              <a:rPr sz="1700">
                <a:solidFill>
                  <a:srgbClr val="1F2937"/>
                </a:solidFill>
                <a:latin typeface="Malgun Gothic"/>
              </a:rPr>
              <a:t>•  → 안전 대기시간은 그대로 유지하면서, 불필요한 낭비 시간만 제거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06-2</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문제 2 · 분명 '이동'을 시켰는데 로봇이 안 움직였다</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12</a:t>
            </a:r>
          </a:p>
        </p:txBody>
      </p:sp>
      <p:sp>
        <p:nvSpPr>
          <p:cNvPr id="7" name="TextBox 6"/>
          <p:cNvSpPr txBox="1"/>
          <p:nvPr/>
        </p:nvSpPr>
        <p:spPr>
          <a:xfrm>
            <a:off x="640080" y="1874519"/>
            <a:ext cx="10607040" cy="1280160"/>
          </a:xfrm>
          <a:prstGeom prst="rect">
            <a:avLst/>
          </a:prstGeom>
          <a:noFill/>
        </p:spPr>
        <p:txBody>
          <a:bodyPr wrap="square">
            <a:spAutoFit/>
          </a:bodyPr>
          <a:lstStyle/>
          <a:p>
            <a:pPr>
              <a:lnSpc>
                <a:spcPct val="115000"/>
              </a:lnSpc>
              <a:spcAft>
                <a:spcPts val="600"/>
              </a:spcAft>
            </a:pPr>
            <a:r>
              <a:rPr sz="1800">
                <a:solidFill>
                  <a:srgbClr val="1F2937"/>
                </a:solidFill>
                <a:latin typeface="Malgun Gothic"/>
              </a:rPr>
              <a:t>•  이동 명령을 합쳤더니, 오히려 로봇이 제자리에 가만히 서있기만 하는 문제 발생</a:t>
            </a:r>
          </a:p>
        </p:txBody>
      </p:sp>
      <p:sp>
        <p:nvSpPr>
          <p:cNvPr id="8" name="Rectangle 7"/>
          <p:cNvSpPr/>
          <p:nvPr/>
        </p:nvSpPr>
        <p:spPr>
          <a:xfrm>
            <a:off x="640080" y="2788920"/>
            <a:ext cx="10607040" cy="13716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80"/>
            <a:ext cx="10058400" cy="1097280"/>
          </a:xfrm>
          <a:prstGeom prst="rect">
            <a:avLst/>
          </a:prstGeom>
          <a:noFill/>
        </p:spPr>
        <p:txBody>
          <a:bodyPr wrap="square" anchor="t">
            <a:spAutoFit/>
          </a:bodyPr>
          <a:lstStyle/>
          <a:p>
            <a:pPr algn="l">
              <a:lnSpc>
                <a:spcPct val="140000"/>
              </a:lnSpc>
            </a:pPr>
            <a:r>
              <a:rPr sz="1800" b="1" i="0">
                <a:solidFill>
                  <a:srgbClr val="1F2937"/>
                </a:solidFill>
                <a:latin typeface="Malgun Gothic"/>
              </a:rPr>
              <a:t>원인: 로봇에게 보내는 '속도 명령'에는 유통기한이 있다!</a:t>
            </a:r>
          </a:p>
          <a:p>
            <a:pPr algn="l">
              <a:lnSpc>
                <a:spcPct val="140000"/>
              </a:lnSpc>
            </a:pPr>
            <a:r>
              <a:rPr sz="1800" b="1" i="0">
                <a:solidFill>
                  <a:srgbClr val="1F2937"/>
                </a:solidFill>
                <a:latin typeface="Malgun Gothic"/>
              </a:rPr>
              <a:t>     (약 1초 안에 다시 보내주지 않으면 자동으로 속도가 0으로 돌아감)</a:t>
            </a:r>
          </a:p>
        </p:txBody>
      </p:sp>
      <p:sp>
        <p:nvSpPr>
          <p:cNvPr id="10" name="TextBox 9"/>
          <p:cNvSpPr txBox="1"/>
          <p:nvPr/>
        </p:nvSpPr>
        <p:spPr>
          <a:xfrm>
            <a:off x="640080" y="4343400"/>
            <a:ext cx="10607040" cy="548640"/>
          </a:xfrm>
          <a:prstGeom prst="rect">
            <a:avLst/>
          </a:prstGeom>
          <a:noFill/>
        </p:spPr>
        <p:txBody>
          <a:bodyPr wrap="square" anchor="t">
            <a:spAutoFit/>
          </a:bodyPr>
          <a:lstStyle/>
          <a:p>
            <a:pPr algn="l">
              <a:lnSpc>
                <a:spcPct val="100000"/>
              </a:lnSpc>
            </a:pPr>
            <a:r>
              <a:rPr sz="1700" b="0" i="1">
                <a:solidFill>
                  <a:srgbClr val="6B7280"/>
                </a:solidFill>
                <a:latin typeface="Malgun Gothic"/>
              </a:rPr>
              <a:t>비유: 자전거 페달을 계속 밟아야 앞으로 가지, 한 번 밟고 멈추면 곧 서버리는 것과 같음</a:t>
            </a:r>
          </a:p>
        </p:txBody>
      </p:sp>
      <p:sp>
        <p:nvSpPr>
          <p:cNvPr id="11" name="TextBox 10"/>
          <p:cNvSpPr txBox="1"/>
          <p:nvPr/>
        </p:nvSpPr>
        <p:spPr>
          <a:xfrm>
            <a:off x="640080" y="5029200"/>
            <a:ext cx="10607040" cy="457200"/>
          </a:xfrm>
          <a:prstGeom prst="rect">
            <a:avLst/>
          </a:prstGeom>
          <a:noFill/>
        </p:spPr>
        <p:txBody>
          <a:bodyPr wrap="square" anchor="t">
            <a:spAutoFit/>
          </a:bodyPr>
          <a:lstStyle/>
          <a:p>
            <a:pPr algn="l">
              <a:lnSpc>
                <a:spcPct val="100000"/>
              </a:lnSpc>
            </a:pPr>
            <a:r>
              <a:rPr sz="1900" b="1" i="0">
                <a:solidFill>
                  <a:srgbClr val="16A34A"/>
                </a:solidFill>
                <a:latin typeface="Malgun Gothic"/>
              </a:rPr>
              <a:t>해결 방법</a:t>
            </a:r>
          </a:p>
        </p:txBody>
      </p:sp>
      <p:sp>
        <p:nvSpPr>
          <p:cNvPr id="12" name="TextBox 11"/>
          <p:cNvSpPr txBox="1"/>
          <p:nvPr/>
        </p:nvSpPr>
        <p:spPr>
          <a:xfrm>
            <a:off x="822960" y="5486400"/>
            <a:ext cx="10332720" cy="914400"/>
          </a:xfrm>
          <a:prstGeom prst="rect">
            <a:avLst/>
          </a:prstGeom>
          <a:noFill/>
        </p:spPr>
        <p:txBody>
          <a:bodyPr wrap="square">
            <a:spAutoFit/>
          </a:bodyPr>
          <a:lstStyle/>
          <a:p>
            <a:pPr>
              <a:lnSpc>
                <a:spcPct val="115000"/>
              </a:lnSpc>
              <a:spcAft>
                <a:spcPts val="800"/>
              </a:spcAft>
            </a:pPr>
            <a:r>
              <a:rPr sz="1700">
                <a:solidFill>
                  <a:srgbClr val="1F2937"/>
                </a:solidFill>
                <a:latin typeface="Malgun Gothic"/>
              </a:rPr>
              <a:t>•  0.3초마다 '이동' 명령을 계속 다시 보내서, 정지시킬 때까지 끊김 없이 이동하도록 수정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07</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안전 설계 (Safety First)</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13</a:t>
            </a:r>
          </a:p>
        </p:txBody>
      </p:sp>
      <p:sp>
        <p:nvSpPr>
          <p:cNvPr id="7" name="TextBox 6"/>
          <p:cNvSpPr txBox="1"/>
          <p:nvPr/>
        </p:nvSpPr>
        <p:spPr>
          <a:xfrm>
            <a:off x="640080" y="1965960"/>
            <a:ext cx="10607040" cy="4114800"/>
          </a:xfrm>
          <a:prstGeom prst="rect">
            <a:avLst/>
          </a:prstGeom>
          <a:noFill/>
        </p:spPr>
        <p:txBody>
          <a:bodyPr wrap="square">
            <a:spAutoFit/>
          </a:bodyPr>
          <a:lstStyle/>
          <a:p>
            <a:pPr>
              <a:lnSpc>
                <a:spcPct val="115000"/>
              </a:lnSpc>
              <a:spcAft>
                <a:spcPts val="2000"/>
              </a:spcAft>
            </a:pPr>
            <a:r>
              <a:rPr sz="2000">
                <a:solidFill>
                  <a:srgbClr val="1F2937"/>
                </a:solidFill>
                <a:latin typeface="Malgun Gothic"/>
              </a:rPr>
              <a:t>•  배터리가 부족하면 위험할 수 있는 동작은 아예 실행하지 않음</a:t>
            </a:r>
          </a:p>
          <a:p>
            <a:pPr>
              <a:lnSpc>
                <a:spcPct val="115000"/>
              </a:lnSpc>
              <a:spcAft>
                <a:spcPts val="2000"/>
              </a:spcAft>
            </a:pPr>
            <a:r>
              <a:rPr sz="2000">
                <a:solidFill>
                  <a:srgbClr val="1F2937"/>
                </a:solidFill>
                <a:latin typeface="Malgun Gothic"/>
              </a:rPr>
              <a:t>•  서 있지 않은 상태에서 '걷기' 같은 명령이 오면, 먼저 자동으로 일어선 뒤 실행</a:t>
            </a:r>
          </a:p>
          <a:p>
            <a:pPr>
              <a:lnSpc>
                <a:spcPct val="115000"/>
              </a:lnSpc>
              <a:spcAft>
                <a:spcPts val="2000"/>
              </a:spcAft>
            </a:pPr>
            <a:r>
              <a:rPr sz="2000">
                <a:solidFill>
                  <a:srgbClr val="1F2937"/>
                </a:solidFill>
                <a:latin typeface="Malgun Gothic"/>
              </a:rPr>
              <a:t>•  언제든 "정지" 한마디로 즉시 모든 동작을 멈출 수 있음</a:t>
            </a:r>
          </a:p>
          <a:p>
            <a:pPr>
              <a:lnSpc>
                <a:spcPct val="115000"/>
              </a:lnSpc>
              <a:spcAft>
                <a:spcPts val="2000"/>
              </a:spcAft>
            </a:pPr>
            <a:r>
              <a:rPr sz="2000">
                <a:solidFill>
                  <a:srgbClr val="1F2937"/>
                </a:solidFill>
                <a:latin typeface="Malgun Gothic"/>
              </a:rPr>
              <a:t>•  이동 속도·지속시간의 기본값은 항상 보수적으로 설정 (급하게 움직이지 않도록)</a:t>
            </a:r>
          </a:p>
          <a:p>
            <a:pPr>
              <a:lnSpc>
                <a:spcPct val="115000"/>
              </a:lnSpc>
              <a:spcAft>
                <a:spcPts val="2000"/>
              </a:spcAft>
            </a:pPr>
            <a:r>
              <a:rPr sz="2000">
                <a:solidFill>
                  <a:srgbClr val="1F2937"/>
                </a:solidFill>
                <a:latin typeface="Malgun Gothic"/>
              </a:rPr>
              <a:t>•  동작 사이 안전 대기시간은 성능 최적화 중에도 절대 줄이지 않음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5486400" cy="365760"/>
          </a:xfrm>
          <a:prstGeom prst="rect">
            <a:avLst/>
          </a:prstGeom>
          <a:noFill/>
        </p:spPr>
        <p:txBody>
          <a:bodyPr wrap="square" anchor="t">
            <a:spAutoFit/>
          </a:bodyPr>
          <a:lstStyle/>
          <a:p>
            <a:pPr algn="l">
              <a:lnSpc>
                <a:spcPct val="100000"/>
              </a:lnSpc>
            </a:pPr>
            <a:r>
              <a:rPr sz="1500" b="1" i="0">
                <a:solidFill>
                  <a:srgbClr val="2563EB"/>
                </a:solidFill>
                <a:latin typeface="Malgun Gothic"/>
              </a:rPr>
              <a:t>08</a:t>
            </a:r>
          </a:p>
        </p:txBody>
      </p:sp>
      <p:sp>
        <p:nvSpPr>
          <p:cNvPr id="4" name="TextBox 3"/>
          <p:cNvSpPr txBox="1"/>
          <p:nvPr/>
        </p:nvSpPr>
        <p:spPr>
          <a:xfrm>
            <a:off x="640080" y="777240"/>
            <a:ext cx="10789920" cy="822960"/>
          </a:xfrm>
          <a:prstGeom prst="rect">
            <a:avLst/>
          </a:prstGeom>
          <a:noFill/>
        </p:spPr>
        <p:txBody>
          <a:bodyPr wrap="square" anchor="t">
            <a:spAutoFit/>
          </a:bodyPr>
          <a:lstStyle/>
          <a:p>
            <a:pPr algn="l">
              <a:lnSpc>
                <a:spcPct val="100000"/>
              </a:lnSpc>
            </a:pPr>
            <a:r>
              <a:rPr sz="3200" b="1" i="0">
                <a:solidFill>
                  <a:srgbClr val="111C33"/>
                </a:solidFill>
                <a:latin typeface="Malgun Gothic"/>
              </a:rPr>
              <a:t>느낀 점 &amp; 배운 점</a:t>
            </a:r>
          </a:p>
        </p:txBody>
      </p:sp>
      <p:sp>
        <p:nvSpPr>
          <p:cNvPr id="5" name="Rectangle 4"/>
          <p:cNvSpPr/>
          <p:nvPr/>
        </p:nvSpPr>
        <p:spPr>
          <a:xfrm>
            <a:off x="640080" y="1508760"/>
            <a:ext cx="10058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521440" y="6446520"/>
            <a:ext cx="548640" cy="320040"/>
          </a:xfrm>
          <a:prstGeom prst="rect">
            <a:avLst/>
          </a:prstGeom>
          <a:noFill/>
        </p:spPr>
        <p:txBody>
          <a:bodyPr wrap="square" anchor="t">
            <a:spAutoFit/>
          </a:bodyPr>
          <a:lstStyle/>
          <a:p>
            <a:pPr algn="r">
              <a:lnSpc>
                <a:spcPct val="100000"/>
              </a:lnSpc>
            </a:pPr>
            <a:r>
              <a:rPr sz="1200" b="0" i="0">
                <a:solidFill>
                  <a:srgbClr val="6B7280"/>
                </a:solidFill>
                <a:latin typeface="Malgun Gothic"/>
              </a:rPr>
              <a:t>14</a:t>
            </a:r>
          </a:p>
        </p:txBody>
      </p:sp>
      <p:sp>
        <p:nvSpPr>
          <p:cNvPr id="7" name="TextBox 6"/>
          <p:cNvSpPr txBox="1"/>
          <p:nvPr/>
        </p:nvSpPr>
        <p:spPr>
          <a:xfrm>
            <a:off x="640080" y="1965960"/>
            <a:ext cx="10607040" cy="4023360"/>
          </a:xfrm>
          <a:prstGeom prst="rect">
            <a:avLst/>
          </a:prstGeom>
          <a:noFill/>
        </p:spPr>
        <p:txBody>
          <a:bodyPr wrap="square">
            <a:spAutoFit/>
          </a:bodyPr>
          <a:lstStyle/>
          <a:p>
            <a:pPr>
              <a:lnSpc>
                <a:spcPct val="115000"/>
              </a:lnSpc>
              <a:spcAft>
                <a:spcPts val="1800"/>
              </a:spcAft>
            </a:pPr>
            <a:r>
              <a:rPr sz="1900">
                <a:solidFill>
                  <a:srgbClr val="1F2937"/>
                </a:solidFill>
                <a:latin typeface="Malgun Gothic"/>
              </a:rPr>
              <a:t>•  로봇공학은 하드웨어뿐 아니라 음성인식·AI·안전설계까지 다양한 소프트웨어 기술이 만나는 분야</a:t>
            </a:r>
          </a:p>
          <a:p>
            <a:pPr>
              <a:lnSpc>
                <a:spcPct val="115000"/>
              </a:lnSpc>
              <a:spcAft>
                <a:spcPts val="1800"/>
              </a:spcAft>
            </a:pPr>
            <a:r>
              <a:rPr sz="1900">
                <a:solidFill>
                  <a:srgbClr val="1F2937"/>
                </a:solidFill>
                <a:latin typeface="Malgun Gothic"/>
              </a:rPr>
              <a:t>•  코드 한 줄의 작은 버그(중복 명령, 속도 명령 유통기한)가 실제 로봇의 움직임을 완전히 바꿀 수 있다는 것을 직접 체험</a:t>
            </a:r>
          </a:p>
          <a:p>
            <a:pPr>
              <a:lnSpc>
                <a:spcPct val="115000"/>
              </a:lnSpc>
              <a:spcAft>
                <a:spcPts val="1800"/>
              </a:spcAft>
            </a:pPr>
            <a:r>
              <a:rPr sz="1900">
                <a:solidFill>
                  <a:srgbClr val="1F2937"/>
                </a:solidFill>
                <a:latin typeface="Malgun Gothic"/>
              </a:rPr>
              <a:t>•  OpenAI의 LLM을 '로봇의 두뇌'로 활용해보며 최신 AI 기술을 실제 하드웨어에 적용하는 경험</a:t>
            </a:r>
          </a:p>
          <a:p>
            <a:pPr>
              <a:lnSpc>
                <a:spcPct val="115000"/>
              </a:lnSpc>
              <a:spcAft>
                <a:spcPts val="1800"/>
              </a:spcAft>
            </a:pPr>
            <a:r>
              <a:rPr sz="1900">
                <a:solidFill>
                  <a:srgbClr val="1F2937"/>
                </a:solidFill>
                <a:latin typeface="Malgun Gothic"/>
              </a:rPr>
              <a:t>•  문제가 생겼을 때 로그를 하나씩 분석하며 원인을 찾아가는 디버깅 과정 자체가 큰 공부가 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C33"/>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10515600" cy="548640"/>
          </a:xfrm>
          <a:prstGeom prst="rect">
            <a:avLst/>
          </a:prstGeom>
          <a:noFill/>
        </p:spPr>
        <p:txBody>
          <a:bodyPr wrap="square" anchor="t">
            <a:spAutoFit/>
          </a:bodyPr>
          <a:lstStyle/>
          <a:p>
            <a:pPr algn="l">
              <a:lnSpc>
                <a:spcPct val="100000"/>
              </a:lnSpc>
            </a:pPr>
            <a:r>
              <a:rPr sz="1800" b="1" i="0">
                <a:solidFill>
                  <a:srgbClr val="F59E0B"/>
                </a:solidFill>
                <a:latin typeface="Malgun Gothic"/>
              </a:rPr>
              <a:t>앞으로의 계획</a:t>
            </a:r>
          </a:p>
        </p:txBody>
      </p:sp>
      <p:sp>
        <p:nvSpPr>
          <p:cNvPr id="4" name="TextBox 3"/>
          <p:cNvSpPr txBox="1"/>
          <p:nvPr/>
        </p:nvSpPr>
        <p:spPr>
          <a:xfrm>
            <a:off x="822960" y="2011680"/>
            <a:ext cx="10058400" cy="2011680"/>
          </a:xfrm>
          <a:prstGeom prst="rect">
            <a:avLst/>
          </a:prstGeom>
          <a:noFill/>
        </p:spPr>
        <p:txBody>
          <a:bodyPr wrap="square">
            <a:spAutoFit/>
          </a:bodyPr>
          <a:lstStyle/>
          <a:p>
            <a:pPr>
              <a:lnSpc>
                <a:spcPct val="115000"/>
              </a:lnSpc>
              <a:spcAft>
                <a:spcPts val="1400"/>
              </a:spcAft>
            </a:pPr>
            <a:r>
              <a:rPr sz="1900">
                <a:solidFill>
                  <a:srgbClr val="FFFFFF"/>
                </a:solidFill>
                <a:latin typeface="Malgun Gothic"/>
              </a:rPr>
              <a:t>•  카메라 영상으로 장애물을 스스로 인식하고 피하는 기능 추가</a:t>
            </a:r>
          </a:p>
          <a:p>
            <a:pPr>
              <a:lnSpc>
                <a:spcPct val="115000"/>
              </a:lnSpc>
              <a:spcAft>
                <a:spcPts val="1400"/>
              </a:spcAft>
            </a:pPr>
            <a:r>
              <a:rPr sz="1900">
                <a:solidFill>
                  <a:srgbClr val="FFFFFF"/>
                </a:solidFill>
                <a:latin typeface="Malgun Gothic"/>
              </a:rPr>
              <a:t>•  고정된 대기시간 대신, 로봇의 실제 센서 값을 보고 동작 완료를 판단하는 방식으로 개선</a:t>
            </a:r>
          </a:p>
          <a:p>
            <a:pPr>
              <a:lnSpc>
                <a:spcPct val="115000"/>
              </a:lnSpc>
              <a:spcAft>
                <a:spcPts val="1400"/>
              </a:spcAft>
            </a:pPr>
            <a:r>
              <a:rPr sz="1900">
                <a:solidFill>
                  <a:srgbClr val="FFFFFF"/>
                </a:solidFill>
                <a:latin typeface="Malgun Gothic"/>
              </a:rPr>
              <a:t>•  더 복잡한 여러 단계의 명령도 안정적으로 처리할 수 있도록 발전</a:t>
            </a:r>
          </a:p>
        </p:txBody>
      </p:sp>
      <p:sp>
        <p:nvSpPr>
          <p:cNvPr id="5" name="TextBox 4"/>
          <p:cNvSpPr txBox="1"/>
          <p:nvPr/>
        </p:nvSpPr>
        <p:spPr>
          <a:xfrm>
            <a:off x="822960" y="4663440"/>
            <a:ext cx="10515600" cy="1097280"/>
          </a:xfrm>
          <a:prstGeom prst="rect">
            <a:avLst/>
          </a:prstGeom>
          <a:noFill/>
        </p:spPr>
        <p:txBody>
          <a:bodyPr wrap="square" anchor="t">
            <a:spAutoFit/>
          </a:bodyPr>
          <a:lstStyle/>
          <a:p>
            <a:pPr algn="l">
              <a:lnSpc>
                <a:spcPct val="100000"/>
              </a:lnSpc>
            </a:pPr>
            <a:r>
              <a:rPr sz="3600" b="1" i="0">
                <a:solidFill>
                  <a:srgbClr val="FFFFFF"/>
                </a:solidFill>
                <a:latin typeface="Malgun Gothic"/>
              </a:rPr>
              <a:t>들어주셔서 감사합니다!</a:t>
            </a:r>
          </a:p>
        </p:txBody>
      </p:sp>
      <p:sp>
        <p:nvSpPr>
          <p:cNvPr id="6" name="TextBox 5"/>
          <p:cNvSpPr txBox="1"/>
          <p:nvPr/>
        </p:nvSpPr>
        <p:spPr>
          <a:xfrm>
            <a:off x="822960" y="5486400"/>
            <a:ext cx="10515600" cy="548640"/>
          </a:xfrm>
          <a:prstGeom prst="rect">
            <a:avLst/>
          </a:prstGeom>
          <a:noFill/>
        </p:spPr>
        <p:txBody>
          <a:bodyPr wrap="square" anchor="t">
            <a:spAutoFit/>
          </a:bodyPr>
          <a:lstStyle/>
          <a:p>
            <a:pPr algn="l">
              <a:lnSpc>
                <a:spcPct val="100000"/>
              </a:lnSpc>
            </a:pPr>
            <a:r>
              <a:rPr sz="2000" b="0" i="0">
                <a:solidFill>
                  <a:srgbClr val="DBEAFE"/>
                </a:solidFill>
                <a:latin typeface="Malgun Gothic"/>
              </a:rPr>
              <a:t>질문 있으신가요?  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